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Monda Bold" charset="1" panose="02000803000000000000"/>
      <p:regular r:id="rId29"/>
    </p:embeddedFont>
    <p:embeddedFont>
      <p:font typeface="Monda" charset="1" panose="02000503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embeddings/oleObject1.bin" Type="http://schemas.openxmlformats.org/officeDocument/2006/relationships/oleObjec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embeddings/oleObject2.bin" Type="http://schemas.openxmlformats.org/officeDocument/2006/relationships/oleObjec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0.pn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embeddings/oleObject3.bin" Type="http://schemas.openxmlformats.org/officeDocument/2006/relationships/oleObject"/><Relationship Id="rId11" Target="../media/image15.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embeddings/oleObject4.bin" Type="http://schemas.openxmlformats.org/officeDocument/2006/relationships/oleObject"/><Relationship Id="rId11" Target="../media/image17.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8.png" Type="http://schemas.openxmlformats.org/officeDocument/2006/relationships/image"/><Relationship Id="rId8" Target="../embeddings/oleObject5.bin" Type="http://schemas.openxmlformats.org/officeDocument/2006/relationships/oleObject"/><Relationship Id="rId9"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media/image21.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0.png" Type="http://schemas.openxmlformats.org/officeDocument/2006/relationships/image"/><Relationship Id="rId8" Target="../embeddings/oleObject6.bin" Type="http://schemas.openxmlformats.org/officeDocument/2006/relationships/oleObject"/><Relationship Id="rId9"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2.png" Type="http://schemas.openxmlformats.org/officeDocument/2006/relationships/image"/><Relationship Id="rId8" Target="../embeddings/oleObject7.bin" Type="http://schemas.openxmlformats.org/officeDocument/2006/relationships/oleObject"/><Relationship Id="rId9"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4.png" Type="http://schemas.openxmlformats.org/officeDocument/2006/relationships/image"/><Relationship Id="rId9" Target="../embeddings/oleObject8.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embeddings/oleObject9.bin" Type="http://schemas.openxmlformats.org/officeDocument/2006/relationships/oleObjec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6.png" Type="http://schemas.openxmlformats.org/officeDocument/2006/relationships/image"/><Relationship Id="rId9"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embeddings/oleObject10.bin" Type="http://schemas.openxmlformats.org/officeDocument/2006/relationships/oleObjec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30.png" Type="http://schemas.openxmlformats.org/officeDocument/2006/relationships/image"/><Relationship Id="rId9" Target="../embeddings/oleObject11.bin" Type="http://schemas.openxmlformats.org/officeDocument/2006/relationships/oleObjec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32.png" Type="http://schemas.openxmlformats.org/officeDocument/2006/relationships/image"/><Relationship Id="rId9" Target="../embeddings/oleObject12.bin" Type="http://schemas.openxmlformats.org/officeDocument/2006/relationships/oleObjec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34.png" Type="http://schemas.openxmlformats.org/officeDocument/2006/relationships/image"/><Relationship Id="rId9" Target="../embeddings/oleObject13.bin" Type="http://schemas.openxmlformats.org/officeDocument/2006/relationships/oleObjec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36.png" Type="http://schemas.openxmlformats.org/officeDocument/2006/relationships/image"/><Relationship Id="rId9" Target="../embeddings/oleObject14.bin" Type="http://schemas.openxmlformats.org/officeDocument/2006/relationships/oleObjec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38.png" Type="http://schemas.openxmlformats.org/officeDocument/2006/relationships/image"/><Relationship Id="rId9" Target="../embeddings/oleObject15.bin" Type="http://schemas.openxmlformats.org/officeDocument/2006/relationships/oleObjec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40.png" Type="http://schemas.openxmlformats.org/officeDocument/2006/relationships/image"/><Relationship Id="rId9" Target="../embeddings/oleObject16.bin" Type="http://schemas.openxmlformats.org/officeDocument/2006/relationships/oleObjec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42.png" Type="http://schemas.openxmlformats.org/officeDocument/2006/relationships/image"/><Relationship Id="rId9" Target="../embeddings/oleObject17.bin" Type="http://schemas.openxmlformats.org/officeDocument/2006/relationships/oleObjec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43.png" Type="http://schemas.openxmlformats.org/officeDocument/2006/relationships/image"/><Relationship Id="rId9" Target="../embeddings/oleObject18.bin" Type="http://schemas.openxmlformats.org/officeDocument/2006/relationships/oleObjec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false" flipV="true" rot="0">
            <a:off x="-2138497" y="-1945766"/>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1488441"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81267" y="2587127"/>
            <a:ext cx="11769707" cy="5177488"/>
          </a:xfrm>
          <a:prstGeom prst="rect">
            <a:avLst/>
          </a:prstGeom>
        </p:spPr>
        <p:txBody>
          <a:bodyPr anchor="t" rtlCol="false" tIns="0" lIns="0" bIns="0" rIns="0">
            <a:spAutoFit/>
          </a:bodyPr>
          <a:lstStyle/>
          <a:p>
            <a:pPr algn="ctr">
              <a:lnSpc>
                <a:spcPts val="10320"/>
              </a:lnSpc>
            </a:pPr>
            <a:r>
              <a:rPr lang="en-US" b="true" sz="7371">
                <a:solidFill>
                  <a:srgbClr val="002B58"/>
                </a:solidFill>
                <a:latin typeface="Monda Bold"/>
                <a:ea typeface="Monda Bold"/>
                <a:cs typeface="Monda Bold"/>
                <a:sym typeface="Monda Bold"/>
              </a:rPr>
              <a:t>CUSTOMER DEMOGRAPHICS AND PURCHASE BEHAVIOR ANALYSIS</a:t>
            </a:r>
          </a:p>
        </p:txBody>
      </p:sp>
      <p:sp>
        <p:nvSpPr>
          <p:cNvPr name="Freeform 8" id="8"/>
          <p:cNvSpPr/>
          <p:nvPr/>
        </p:nvSpPr>
        <p:spPr>
          <a:xfrm flipH="false" flipV="false" rot="0">
            <a:off x="8682755" y="0"/>
            <a:ext cx="9605245" cy="6399494"/>
          </a:xfrm>
          <a:custGeom>
            <a:avLst/>
            <a:gdLst/>
            <a:ahLst/>
            <a:cxnLst/>
            <a:rect r="r" b="b" t="t" l="l"/>
            <a:pathLst>
              <a:path h="6399494" w="9605245">
                <a:moveTo>
                  <a:pt x="0" y="0"/>
                </a:moveTo>
                <a:lnTo>
                  <a:pt x="9605245" y="0"/>
                </a:lnTo>
                <a:lnTo>
                  <a:pt x="9605245" y="6399494"/>
                </a:lnTo>
                <a:lnTo>
                  <a:pt x="0" y="6399494"/>
                </a:lnTo>
                <a:lnTo>
                  <a:pt x="0" y="0"/>
                </a:lnTo>
                <a:close/>
              </a:path>
            </a:pathLst>
          </a:custGeom>
          <a:blipFill>
            <a:blip r:embed="rId7"/>
            <a:stretch>
              <a:fillRect l="0" t="-31" r="0" b="-31"/>
            </a:stretch>
          </a:blipFill>
        </p:spPr>
      </p:sp>
      <p:sp>
        <p:nvSpPr>
          <p:cNvPr name="TextBox 9" id="9"/>
          <p:cNvSpPr txBox="true"/>
          <p:nvPr/>
        </p:nvSpPr>
        <p:spPr>
          <a:xfrm rot="0">
            <a:off x="2800314" y="7918907"/>
            <a:ext cx="11254946" cy="1800621"/>
          </a:xfrm>
          <a:prstGeom prst="rect">
            <a:avLst/>
          </a:prstGeom>
        </p:spPr>
        <p:txBody>
          <a:bodyPr anchor="t" rtlCol="false" tIns="0" lIns="0" bIns="0" rIns="0">
            <a:spAutoFit/>
          </a:bodyPr>
          <a:lstStyle/>
          <a:p>
            <a:pPr algn="ctr">
              <a:lnSpc>
                <a:spcPts val="7273"/>
              </a:lnSpc>
            </a:pPr>
            <a:r>
              <a:rPr lang="en-US" sz="5195">
                <a:solidFill>
                  <a:srgbClr val="002B58"/>
                </a:solidFill>
                <a:latin typeface="Monda"/>
                <a:ea typeface="Monda"/>
                <a:cs typeface="Monda"/>
                <a:sym typeface="Monda"/>
              </a:rPr>
              <a:t>By A.BHARATHI</a:t>
            </a:r>
          </a:p>
          <a:p>
            <a:pPr algn="ctr">
              <a:lnSpc>
                <a:spcPts val="7273"/>
              </a:lnSpc>
            </a:pPr>
            <a:r>
              <a:rPr lang="en-US" sz="5195">
                <a:solidFill>
                  <a:srgbClr val="002B58"/>
                </a:solidFill>
                <a:latin typeface="Monda"/>
                <a:ea typeface="Monda"/>
                <a:cs typeface="Monda"/>
                <a:sym typeface="Monda"/>
              </a:rPr>
              <a:t>BATCH NO :BMAI-S-WD-T-B15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1567538" y="6283834"/>
            <a:ext cx="9295205" cy="5948931"/>
          </a:xfrm>
          <a:custGeom>
            <a:avLst/>
            <a:gdLst/>
            <a:ahLst/>
            <a:cxnLst/>
            <a:rect r="r" b="b" t="t" l="l"/>
            <a:pathLst>
              <a:path h="5948931" w="9295205">
                <a:moveTo>
                  <a:pt x="9295206" y="0"/>
                </a:moveTo>
                <a:lnTo>
                  <a:pt x="0" y="0"/>
                </a:lnTo>
                <a:lnTo>
                  <a:pt x="0" y="5948932"/>
                </a:lnTo>
                <a:lnTo>
                  <a:pt x="9295206" y="5948932"/>
                </a:lnTo>
                <a:lnTo>
                  <a:pt x="929520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2509394" y="-2251706"/>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4307884" y="340619"/>
            <a:ext cx="9672231" cy="688081"/>
          </a:xfrm>
          <a:prstGeom prst="rect">
            <a:avLst/>
          </a:prstGeom>
        </p:spPr>
        <p:txBody>
          <a:bodyPr anchor="t" rtlCol="false" tIns="0" lIns="0" bIns="0" rIns="0">
            <a:spAutoFit/>
          </a:bodyPr>
          <a:lstStyle/>
          <a:p>
            <a:pPr algn="ctr">
              <a:lnSpc>
                <a:spcPts val="5649"/>
              </a:lnSpc>
            </a:pPr>
            <a:r>
              <a:rPr lang="en-US" b="true" sz="4035">
                <a:solidFill>
                  <a:srgbClr val="002B58"/>
                </a:solidFill>
                <a:latin typeface="Monda Bold"/>
                <a:ea typeface="Monda Bold"/>
                <a:cs typeface="Monda Bold"/>
                <a:sym typeface="Monda Bold"/>
              </a:rPr>
              <a:t>AGENDA</a:t>
            </a:r>
          </a:p>
        </p:txBody>
      </p:sp>
      <p:sp>
        <p:nvSpPr>
          <p:cNvPr name="TextBox 8" id="8"/>
          <p:cNvSpPr txBox="true"/>
          <p:nvPr/>
        </p:nvSpPr>
        <p:spPr>
          <a:xfrm rot="0">
            <a:off x="1603508" y="2177593"/>
            <a:ext cx="13994160" cy="4396687"/>
          </a:xfrm>
          <a:prstGeom prst="rect">
            <a:avLst/>
          </a:prstGeom>
        </p:spPr>
        <p:txBody>
          <a:bodyPr anchor="t" rtlCol="false" tIns="0" lIns="0" bIns="0" rIns="0">
            <a:spAutoFit/>
          </a:bodyPr>
          <a:lstStyle/>
          <a:p>
            <a:pPr algn="l" marL="1085344" indent="-542672" lvl="1">
              <a:lnSpc>
                <a:spcPts val="7037"/>
              </a:lnSpc>
              <a:buFont typeface="Arial"/>
              <a:buChar char="•"/>
            </a:pPr>
            <a:r>
              <a:rPr lang="en-US" sz="5027">
                <a:solidFill>
                  <a:srgbClr val="002B58"/>
                </a:solidFill>
                <a:latin typeface="Monda"/>
                <a:ea typeface="Monda"/>
                <a:cs typeface="Monda"/>
                <a:sym typeface="Monda"/>
              </a:rPr>
              <a:t>CUSTOM DEMOGRAPHICS</a:t>
            </a:r>
          </a:p>
          <a:p>
            <a:pPr algn="l" marL="1085344" indent="-542672" lvl="1">
              <a:lnSpc>
                <a:spcPts val="7037"/>
              </a:lnSpc>
              <a:buFont typeface="Arial"/>
              <a:buChar char="•"/>
            </a:pPr>
            <a:r>
              <a:rPr lang="en-US" sz="5027">
                <a:solidFill>
                  <a:srgbClr val="002B58"/>
                </a:solidFill>
                <a:latin typeface="Monda"/>
                <a:ea typeface="Monda"/>
                <a:cs typeface="Monda"/>
                <a:sym typeface="Monda"/>
              </a:rPr>
              <a:t>PURCHASE BEHAVIOR</a:t>
            </a:r>
          </a:p>
          <a:p>
            <a:pPr algn="l" marL="1085344" indent="-542672" lvl="1">
              <a:lnSpc>
                <a:spcPts val="7037"/>
              </a:lnSpc>
              <a:buFont typeface="Arial"/>
              <a:buChar char="•"/>
            </a:pPr>
            <a:r>
              <a:rPr lang="en-US" sz="5027">
                <a:solidFill>
                  <a:srgbClr val="002B58"/>
                </a:solidFill>
                <a:latin typeface="Monda"/>
                <a:ea typeface="Monda"/>
                <a:cs typeface="Monda"/>
                <a:sym typeface="Monda"/>
              </a:rPr>
              <a:t>MONTHLY TRENDS</a:t>
            </a:r>
          </a:p>
          <a:p>
            <a:pPr algn="l" marL="1085344" indent="-542672" lvl="1">
              <a:lnSpc>
                <a:spcPts val="7037"/>
              </a:lnSpc>
              <a:buFont typeface="Arial"/>
              <a:buChar char="•"/>
            </a:pPr>
            <a:r>
              <a:rPr lang="en-US" sz="5027">
                <a:solidFill>
                  <a:srgbClr val="002B58"/>
                </a:solidFill>
                <a:latin typeface="Monda"/>
                <a:ea typeface="Monda"/>
                <a:cs typeface="Monda"/>
                <a:sym typeface="Monda"/>
              </a:rPr>
              <a:t>ADVANCED INSIGHTS</a:t>
            </a:r>
          </a:p>
          <a:p>
            <a:pPr algn="l" marL="1085344" indent="-542672" lvl="1">
              <a:lnSpc>
                <a:spcPts val="7037"/>
              </a:lnSpc>
              <a:buFont typeface="Arial"/>
              <a:buChar char="•"/>
            </a:pPr>
            <a:r>
              <a:rPr lang="en-US" sz="5027">
                <a:solidFill>
                  <a:srgbClr val="002B58"/>
                </a:solidFill>
                <a:latin typeface="Monda"/>
                <a:ea typeface="Monda"/>
                <a:cs typeface="Monda"/>
                <a:sym typeface="Monda"/>
              </a:rPr>
              <a:t>KEY TAKEAWAYS &amp; RECOMMENDATIONS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false" flipV="true" rot="0">
            <a:off x="-2509394" y="-2143949"/>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3367119" y="158946"/>
            <a:ext cx="11807761" cy="671571"/>
          </a:xfrm>
          <a:prstGeom prst="rect">
            <a:avLst/>
          </a:prstGeom>
        </p:spPr>
        <p:txBody>
          <a:bodyPr anchor="t" rtlCol="false" tIns="0" lIns="0" bIns="0" rIns="0">
            <a:spAutoFit/>
          </a:bodyPr>
          <a:lstStyle/>
          <a:p>
            <a:pPr algn="ctr">
              <a:lnSpc>
                <a:spcPts val="5509"/>
              </a:lnSpc>
            </a:pPr>
            <a:r>
              <a:rPr lang="en-US" b="true" sz="3935">
                <a:solidFill>
                  <a:srgbClr val="002B58"/>
                </a:solidFill>
                <a:latin typeface="Monda Bold"/>
                <a:ea typeface="Monda Bold"/>
                <a:cs typeface="Monda Bold"/>
                <a:sym typeface="Monda Bold"/>
              </a:rPr>
              <a:t>TASK 1: STYLING TABULATION</a:t>
            </a:r>
          </a:p>
        </p:txBody>
      </p:sp>
      <p:sp>
        <p:nvSpPr>
          <p:cNvPr name="Freeform 7" id="7"/>
          <p:cNvSpPr/>
          <p:nvPr/>
        </p:nvSpPr>
        <p:spPr>
          <a:xfrm flipH="false" flipV="false" rot="0">
            <a:off x="2138209" y="3041925"/>
            <a:ext cx="980313" cy="801406"/>
          </a:xfrm>
          <a:custGeom>
            <a:avLst/>
            <a:gdLst/>
            <a:ahLst/>
            <a:cxnLst/>
            <a:rect r="r" b="b" t="t" l="l"/>
            <a:pathLst>
              <a:path h="801406" w="980313">
                <a:moveTo>
                  <a:pt x="0" y="0"/>
                </a:moveTo>
                <a:lnTo>
                  <a:pt x="980312" y="0"/>
                </a:lnTo>
                <a:lnTo>
                  <a:pt x="980312" y="801405"/>
                </a:lnTo>
                <a:lnTo>
                  <a:pt x="0" y="80140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2138209" y="4846606"/>
            <a:ext cx="980313" cy="801406"/>
          </a:xfrm>
          <a:custGeom>
            <a:avLst/>
            <a:gdLst/>
            <a:ahLst/>
            <a:cxnLst/>
            <a:rect r="r" b="b" t="t" l="l"/>
            <a:pathLst>
              <a:path h="801406" w="980313">
                <a:moveTo>
                  <a:pt x="0" y="0"/>
                </a:moveTo>
                <a:lnTo>
                  <a:pt x="980312" y="0"/>
                </a:lnTo>
                <a:lnTo>
                  <a:pt x="980312" y="801406"/>
                </a:lnTo>
                <a:lnTo>
                  <a:pt x="0" y="8014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040467" y="4928173"/>
            <a:ext cx="18844234" cy="571596"/>
          </a:xfrm>
          <a:prstGeom prst="rect">
            <a:avLst/>
          </a:prstGeom>
        </p:spPr>
        <p:txBody>
          <a:bodyPr anchor="t" rtlCol="false" tIns="0" lIns="0" bIns="0" rIns="0">
            <a:spAutoFit/>
          </a:bodyPr>
          <a:lstStyle/>
          <a:p>
            <a:pPr algn="ctr">
              <a:lnSpc>
                <a:spcPts val="4719"/>
              </a:lnSpc>
              <a:spcBef>
                <a:spcPct val="0"/>
              </a:spcBef>
            </a:pPr>
            <a:r>
              <a:rPr lang="en-US" sz="3371">
                <a:solidFill>
                  <a:srgbClr val="002B58"/>
                </a:solidFill>
                <a:latin typeface="Monda"/>
                <a:ea typeface="Monda"/>
                <a:cs typeface="Monda"/>
                <a:sym typeface="Monda"/>
              </a:rPr>
              <a:t> </a:t>
            </a:r>
            <a:r>
              <a:rPr lang="en-US" sz="3371">
                <a:solidFill>
                  <a:srgbClr val="002B58"/>
                </a:solidFill>
                <a:latin typeface="Monda"/>
                <a:ea typeface="Monda"/>
                <a:cs typeface="Monda"/>
                <a:sym typeface="Monda"/>
              </a:rPr>
              <a:t>TO IMPROVE READABILITY</a:t>
            </a:r>
          </a:p>
        </p:txBody>
      </p:sp>
      <p:sp>
        <p:nvSpPr>
          <p:cNvPr name="TextBox 10" id="10"/>
          <p:cNvSpPr txBox="true"/>
          <p:nvPr/>
        </p:nvSpPr>
        <p:spPr>
          <a:xfrm rot="0">
            <a:off x="3367119" y="2954592"/>
            <a:ext cx="16230600" cy="1144906"/>
          </a:xfrm>
          <a:prstGeom prst="rect">
            <a:avLst/>
          </a:prstGeom>
        </p:spPr>
        <p:txBody>
          <a:bodyPr anchor="t" rtlCol="false" tIns="0" lIns="0" bIns="0" rIns="0">
            <a:spAutoFit/>
          </a:bodyPr>
          <a:lstStyle/>
          <a:p>
            <a:pPr algn="l">
              <a:lnSpc>
                <a:spcPts val="4619"/>
              </a:lnSpc>
              <a:spcBef>
                <a:spcPct val="0"/>
              </a:spcBef>
            </a:pPr>
            <a:r>
              <a:rPr lang="en-US" sz="3299">
                <a:solidFill>
                  <a:srgbClr val="002B58"/>
                </a:solidFill>
                <a:latin typeface="Monda"/>
                <a:ea typeface="Monda"/>
                <a:cs typeface="Monda"/>
                <a:sym typeface="Monda"/>
              </a:rPr>
              <a:t>B</a:t>
            </a:r>
            <a:r>
              <a:rPr lang="en-US" sz="3299">
                <a:solidFill>
                  <a:srgbClr val="002B58"/>
                </a:solidFill>
                <a:latin typeface="Monda"/>
                <a:ea typeface="Monda"/>
                <a:cs typeface="Monda"/>
                <a:sym typeface="Monda"/>
              </a:rPr>
              <a:t>OLD HEADERS, APPLY ALTERNATING ROW COLORS, AND FORMAT THE AMOUNT COLUMN AS CURRENCY</a:t>
            </a:r>
          </a:p>
        </p:txBody>
      </p:sp>
      <p:graphicFrame>
        <p:nvGraphicFramePr>
          <p:cNvPr name="Object 11" id="11"/>
          <p:cNvGraphicFramePr/>
          <p:nvPr/>
        </p:nvGraphicFramePr>
        <p:xfrm>
          <a:off x="1028700" y="6686237"/>
          <a:ext cx="16459200" cy="419100"/>
        </p:xfrm>
        <a:graphic>
          <a:graphicData uri="http://schemas.openxmlformats.org/presentationml/2006/ole">
            <p:oleObj imgW="19748500" imgH="37084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sp>
        <p:nvSpPr>
          <p:cNvPr name="Freeform 12" id="12"/>
          <p:cNvSpPr/>
          <p:nvPr/>
        </p:nvSpPr>
        <p:spPr>
          <a:xfrm flipH="true" flipV="false" rot="0">
            <a:off x="12611697" y="5648012"/>
            <a:ext cx="9295205" cy="5948931"/>
          </a:xfrm>
          <a:custGeom>
            <a:avLst/>
            <a:gdLst/>
            <a:ahLst/>
            <a:cxnLst/>
            <a:rect r="r" b="b" t="t" l="l"/>
            <a:pathLst>
              <a:path h="5948931" w="9295205">
                <a:moveTo>
                  <a:pt x="9295206" y="0"/>
                </a:moveTo>
                <a:lnTo>
                  <a:pt x="0" y="0"/>
                </a:lnTo>
                <a:lnTo>
                  <a:pt x="0" y="5948931"/>
                </a:lnTo>
                <a:lnTo>
                  <a:pt x="9295206" y="5948931"/>
                </a:lnTo>
                <a:lnTo>
                  <a:pt x="929520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700288" y="1028700"/>
            <a:ext cx="8262746" cy="5068177"/>
          </a:xfrm>
          <a:custGeom>
            <a:avLst/>
            <a:gdLst/>
            <a:ahLst/>
            <a:cxnLst/>
            <a:rect r="r" b="b" t="t" l="l"/>
            <a:pathLst>
              <a:path h="5068177" w="8262746">
                <a:moveTo>
                  <a:pt x="0" y="0"/>
                </a:moveTo>
                <a:lnTo>
                  <a:pt x="8262746" y="0"/>
                </a:lnTo>
                <a:lnTo>
                  <a:pt x="8262746" y="5068177"/>
                </a:lnTo>
                <a:lnTo>
                  <a:pt x="0" y="5068177"/>
                </a:lnTo>
                <a:lnTo>
                  <a:pt x="0" y="0"/>
                </a:lnTo>
                <a:close/>
              </a:path>
            </a:pathLst>
          </a:custGeom>
          <a:blipFill>
            <a:blip r:embed="rId5"/>
            <a:stretch>
              <a:fillRect l="-5841" t="0" r="-2457" b="0"/>
            </a:stretch>
          </a:blipFill>
        </p:spPr>
      </p:sp>
      <p:sp>
        <p:nvSpPr>
          <p:cNvPr name="Freeform 5" id="5"/>
          <p:cNvSpPr/>
          <p:nvPr/>
        </p:nvSpPr>
        <p:spPr>
          <a:xfrm flipH="true" flipV="false" rot="0">
            <a:off x="12182312" y="5377852"/>
            <a:ext cx="9295205" cy="5948931"/>
          </a:xfrm>
          <a:custGeom>
            <a:avLst/>
            <a:gdLst/>
            <a:ahLst/>
            <a:cxnLst/>
            <a:rect r="r" b="b" t="t" l="l"/>
            <a:pathLst>
              <a:path h="5948931" w="9295205">
                <a:moveTo>
                  <a:pt x="9295205" y="0"/>
                </a:moveTo>
                <a:lnTo>
                  <a:pt x="0" y="0"/>
                </a:lnTo>
                <a:lnTo>
                  <a:pt x="0" y="5948931"/>
                </a:lnTo>
                <a:lnTo>
                  <a:pt x="9295205" y="5948931"/>
                </a:lnTo>
                <a:lnTo>
                  <a:pt x="929520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0">
            <a:off x="-2509394" y="-1594186"/>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3921209" y="93354"/>
            <a:ext cx="10869422" cy="671571"/>
          </a:xfrm>
          <a:prstGeom prst="rect">
            <a:avLst/>
          </a:prstGeom>
        </p:spPr>
        <p:txBody>
          <a:bodyPr anchor="t" rtlCol="false" tIns="0" lIns="0" bIns="0" rIns="0">
            <a:spAutoFit/>
          </a:bodyPr>
          <a:lstStyle/>
          <a:p>
            <a:pPr algn="ctr">
              <a:lnSpc>
                <a:spcPts val="5509"/>
              </a:lnSpc>
            </a:pPr>
            <a:r>
              <a:rPr lang="en-US" b="true" sz="3935">
                <a:solidFill>
                  <a:srgbClr val="002B58"/>
                </a:solidFill>
                <a:latin typeface="Monda Bold"/>
                <a:ea typeface="Monda Bold"/>
                <a:cs typeface="Monda Bold"/>
                <a:sym typeface="Monda Bold"/>
              </a:rPr>
              <a:t>TASK 2: AGE DISTRIBUTION HISTOGRAM</a:t>
            </a:r>
          </a:p>
        </p:txBody>
      </p:sp>
      <p:sp>
        <p:nvSpPr>
          <p:cNvPr name="Freeform 9" id="9"/>
          <p:cNvSpPr/>
          <p:nvPr/>
        </p:nvSpPr>
        <p:spPr>
          <a:xfrm flipH="false" flipV="false" rot="0">
            <a:off x="279846" y="6529698"/>
            <a:ext cx="469354" cy="520272"/>
          </a:xfrm>
          <a:custGeom>
            <a:avLst/>
            <a:gdLst/>
            <a:ahLst/>
            <a:cxnLst/>
            <a:rect r="r" b="b" t="t" l="l"/>
            <a:pathLst>
              <a:path h="520272" w="469354">
                <a:moveTo>
                  <a:pt x="0" y="0"/>
                </a:moveTo>
                <a:lnTo>
                  <a:pt x="469354" y="0"/>
                </a:lnTo>
                <a:lnTo>
                  <a:pt x="469354" y="520272"/>
                </a:lnTo>
                <a:lnTo>
                  <a:pt x="0" y="5202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Object 10" id="10"/>
          <p:cNvGraphicFramePr/>
          <p:nvPr/>
        </p:nvGraphicFramePr>
        <p:xfrm>
          <a:off x="2926182" y="930578"/>
          <a:ext cx="2514600" cy="2933700"/>
        </p:xfrm>
        <a:graphic>
          <a:graphicData uri="http://schemas.openxmlformats.org/presentationml/2006/ole">
            <p:oleObj imgW="3098800" imgH="35179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sp>
        <p:nvSpPr>
          <p:cNvPr name="TextBox 11" id="11"/>
          <p:cNvSpPr txBox="true"/>
          <p:nvPr/>
        </p:nvSpPr>
        <p:spPr>
          <a:xfrm rot="0">
            <a:off x="1028700" y="6463023"/>
            <a:ext cx="16934334" cy="2306756"/>
          </a:xfrm>
          <a:prstGeom prst="rect">
            <a:avLst/>
          </a:prstGeom>
        </p:spPr>
        <p:txBody>
          <a:bodyPr anchor="t" rtlCol="false" tIns="0" lIns="0" bIns="0" rIns="0">
            <a:spAutoFit/>
          </a:bodyPr>
          <a:lstStyle/>
          <a:p>
            <a:pPr algn="just">
              <a:lnSpc>
                <a:spcPts val="4630"/>
              </a:lnSpc>
            </a:pPr>
            <a:r>
              <a:rPr lang="en-US" b="true" sz="3307">
                <a:solidFill>
                  <a:srgbClr val="002B58"/>
                </a:solidFill>
                <a:latin typeface="Monda Bold"/>
                <a:ea typeface="Monda Bold"/>
                <a:cs typeface="Monda Bold"/>
                <a:sym typeface="Monda Bold"/>
              </a:rPr>
              <a:t>INSIGHTS ;</a:t>
            </a:r>
          </a:p>
          <a:p>
            <a:pPr algn="just">
              <a:lnSpc>
                <a:spcPts val="4630"/>
              </a:lnSpc>
              <a:spcBef>
                <a:spcPct val="0"/>
              </a:spcBef>
            </a:pPr>
            <a:r>
              <a:rPr lang="en-US" sz="3307">
                <a:solidFill>
                  <a:srgbClr val="002B58"/>
                </a:solidFill>
                <a:latin typeface="Monda"/>
                <a:ea typeface="Monda"/>
                <a:cs typeface="Monda"/>
                <a:sym typeface="Monda"/>
              </a:rPr>
              <a:t>CUSTOMERS AGED 60–70 ARE THE MOST PROMINENT SPENDERS, FOLLOWED CLOSELY BY THE 30–49 AGE GROUPS, WHILE THE 10–19 GROUP CONTRIBUTES THE LEAST.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1860602" y="5660730"/>
            <a:ext cx="9295205" cy="5948931"/>
          </a:xfrm>
          <a:custGeom>
            <a:avLst/>
            <a:gdLst/>
            <a:ahLst/>
            <a:cxnLst/>
            <a:rect r="r" b="b" t="t" l="l"/>
            <a:pathLst>
              <a:path h="5948931" w="9295205">
                <a:moveTo>
                  <a:pt x="9295206" y="0"/>
                </a:moveTo>
                <a:lnTo>
                  <a:pt x="0" y="0"/>
                </a:lnTo>
                <a:lnTo>
                  <a:pt x="0" y="5948931"/>
                </a:lnTo>
                <a:lnTo>
                  <a:pt x="9295206" y="5948931"/>
                </a:lnTo>
                <a:lnTo>
                  <a:pt x="929520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2735889" y="-148366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72581"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028700" y="7496453"/>
            <a:ext cx="437168" cy="484594"/>
          </a:xfrm>
          <a:custGeom>
            <a:avLst/>
            <a:gdLst/>
            <a:ahLst/>
            <a:cxnLst/>
            <a:rect r="r" b="b" t="t" l="l"/>
            <a:pathLst>
              <a:path h="484594" w="437168">
                <a:moveTo>
                  <a:pt x="0" y="0"/>
                </a:moveTo>
                <a:lnTo>
                  <a:pt x="437168" y="0"/>
                </a:lnTo>
                <a:lnTo>
                  <a:pt x="437168" y="484594"/>
                </a:lnTo>
                <a:lnTo>
                  <a:pt x="0" y="4845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aphicFrame>
        <p:nvGraphicFramePr>
          <p:cNvPr name="Object 8" id="8"/>
          <p:cNvGraphicFramePr/>
          <p:nvPr/>
        </p:nvGraphicFramePr>
        <p:xfrm>
          <a:off x="1717574" y="1490803"/>
          <a:ext cx="2514600" cy="2514600"/>
        </p:xfrm>
        <a:graphic>
          <a:graphicData uri="http://schemas.openxmlformats.org/presentationml/2006/ole">
            <p:oleObj imgW="3009900" imgH="30099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9144000" y="1490803"/>
            <a:ext cx="8868145" cy="5501120"/>
          </a:xfrm>
          <a:custGeom>
            <a:avLst/>
            <a:gdLst/>
            <a:ahLst/>
            <a:cxnLst/>
            <a:rect r="r" b="b" t="t" l="l"/>
            <a:pathLst>
              <a:path h="5501120" w="8868145">
                <a:moveTo>
                  <a:pt x="0" y="0"/>
                </a:moveTo>
                <a:lnTo>
                  <a:pt x="8868145" y="0"/>
                </a:lnTo>
                <a:lnTo>
                  <a:pt x="8868145" y="5501120"/>
                </a:lnTo>
                <a:lnTo>
                  <a:pt x="0" y="5501120"/>
                </a:lnTo>
                <a:lnTo>
                  <a:pt x="0" y="0"/>
                </a:lnTo>
                <a:close/>
              </a:path>
            </a:pathLst>
          </a:custGeom>
          <a:blipFill>
            <a:blip r:embed="rId11"/>
            <a:stretch>
              <a:fillRect l="0" t="0" r="-6055" b="-2352"/>
            </a:stretch>
          </a:blipFill>
        </p:spPr>
      </p:sp>
      <p:sp>
        <p:nvSpPr>
          <p:cNvPr name="TextBox 10" id="10"/>
          <p:cNvSpPr txBox="true"/>
          <p:nvPr/>
        </p:nvSpPr>
        <p:spPr>
          <a:xfrm rot="0">
            <a:off x="2961161" y="93354"/>
            <a:ext cx="13267041" cy="671571"/>
          </a:xfrm>
          <a:prstGeom prst="rect">
            <a:avLst/>
          </a:prstGeom>
        </p:spPr>
        <p:txBody>
          <a:bodyPr anchor="t" rtlCol="false" tIns="0" lIns="0" bIns="0" rIns="0">
            <a:spAutoFit/>
          </a:bodyPr>
          <a:lstStyle/>
          <a:p>
            <a:pPr algn="ctr">
              <a:lnSpc>
                <a:spcPts val="5509"/>
              </a:lnSpc>
            </a:pPr>
            <a:r>
              <a:rPr lang="en-US" b="true" sz="3935">
                <a:solidFill>
                  <a:srgbClr val="002B58"/>
                </a:solidFill>
                <a:latin typeface="Monda Bold"/>
                <a:ea typeface="Monda Bold"/>
                <a:cs typeface="Monda Bold"/>
                <a:sym typeface="Monda Bold"/>
              </a:rPr>
              <a:t>TASK 3: BOX PLOT FOR PURCHASE AMOUNTS</a:t>
            </a:r>
          </a:p>
        </p:txBody>
      </p:sp>
      <p:sp>
        <p:nvSpPr>
          <p:cNvPr name="TextBox 11" id="11"/>
          <p:cNvSpPr txBox="true"/>
          <p:nvPr/>
        </p:nvSpPr>
        <p:spPr>
          <a:xfrm rot="0">
            <a:off x="1717574" y="7439303"/>
            <a:ext cx="14790631" cy="2334636"/>
          </a:xfrm>
          <a:prstGeom prst="rect">
            <a:avLst/>
          </a:prstGeom>
        </p:spPr>
        <p:txBody>
          <a:bodyPr anchor="t" rtlCol="false" tIns="0" lIns="0" bIns="0" rIns="0">
            <a:spAutoFit/>
          </a:bodyPr>
          <a:lstStyle/>
          <a:p>
            <a:pPr algn="l">
              <a:lnSpc>
                <a:spcPts val="4669"/>
              </a:lnSpc>
            </a:pPr>
            <a:r>
              <a:rPr lang="en-US" sz="3335" b="true">
                <a:solidFill>
                  <a:srgbClr val="002B58"/>
                </a:solidFill>
                <a:latin typeface="Monda Bold"/>
                <a:ea typeface="Monda Bold"/>
                <a:cs typeface="Monda Bold"/>
                <a:sym typeface="Monda Bold"/>
              </a:rPr>
              <a:t>INSIGHTS;</a:t>
            </a:r>
          </a:p>
          <a:p>
            <a:pPr algn="l">
              <a:lnSpc>
                <a:spcPts val="4669"/>
              </a:lnSpc>
              <a:spcBef>
                <a:spcPct val="0"/>
              </a:spcBef>
            </a:pPr>
            <a:r>
              <a:rPr lang="en-US" sz="3335">
                <a:solidFill>
                  <a:srgbClr val="002B58"/>
                </a:solidFill>
                <a:latin typeface="Monda"/>
                <a:ea typeface="Monda"/>
                <a:cs typeface="Monda"/>
                <a:sym typeface="Monda"/>
              </a:rPr>
              <a:t>H</a:t>
            </a:r>
            <a:r>
              <a:rPr lang="en-US" sz="3335">
                <a:solidFill>
                  <a:srgbClr val="002B58"/>
                </a:solidFill>
                <a:latin typeface="Monda"/>
                <a:ea typeface="Monda"/>
                <a:cs typeface="Monda"/>
                <a:sym typeface="Monda"/>
              </a:rPr>
              <a:t>OME &amp; KITCHEN LEADS IN SPENDING, TOYS IS A LOW-PERFORMING OUTLIER, AND BOOKS REPRESENT THE MEDIAN SPENDING LEVEL ACROSS CATEGORIES.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1517006"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2800602" y="-1683770"/>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84901" y="6622798"/>
            <a:ext cx="494406" cy="548042"/>
          </a:xfrm>
          <a:custGeom>
            <a:avLst/>
            <a:gdLst/>
            <a:ahLst/>
            <a:cxnLst/>
            <a:rect r="r" b="b" t="t" l="l"/>
            <a:pathLst>
              <a:path h="548042" w="494406">
                <a:moveTo>
                  <a:pt x="0" y="0"/>
                </a:moveTo>
                <a:lnTo>
                  <a:pt x="494406" y="0"/>
                </a:lnTo>
                <a:lnTo>
                  <a:pt x="494406" y="548042"/>
                </a:lnTo>
                <a:lnTo>
                  <a:pt x="0" y="54804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aphicFrame>
        <p:nvGraphicFramePr>
          <p:cNvPr name="Object 8" id="8"/>
          <p:cNvGraphicFramePr/>
          <p:nvPr/>
        </p:nvGraphicFramePr>
        <p:xfrm>
          <a:off x="3720999" y="1749406"/>
          <a:ext cx="2514600" cy="2095500"/>
        </p:xfrm>
        <a:graphic>
          <a:graphicData uri="http://schemas.openxmlformats.org/presentationml/2006/ole">
            <p:oleObj imgW="3009900" imgH="25908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9944883" y="1749406"/>
            <a:ext cx="7314417" cy="4650088"/>
          </a:xfrm>
          <a:custGeom>
            <a:avLst/>
            <a:gdLst/>
            <a:ahLst/>
            <a:cxnLst/>
            <a:rect r="r" b="b" t="t" l="l"/>
            <a:pathLst>
              <a:path h="4650088" w="7314417">
                <a:moveTo>
                  <a:pt x="0" y="0"/>
                </a:moveTo>
                <a:lnTo>
                  <a:pt x="7314417" y="0"/>
                </a:lnTo>
                <a:lnTo>
                  <a:pt x="7314417" y="4650088"/>
                </a:lnTo>
                <a:lnTo>
                  <a:pt x="0" y="4650088"/>
                </a:lnTo>
                <a:lnTo>
                  <a:pt x="0" y="0"/>
                </a:lnTo>
                <a:close/>
              </a:path>
            </a:pathLst>
          </a:custGeom>
          <a:blipFill>
            <a:blip r:embed="rId11"/>
            <a:stretch>
              <a:fillRect l="0" t="0" r="-6193" b="0"/>
            </a:stretch>
          </a:blipFill>
        </p:spPr>
      </p:sp>
      <p:sp>
        <p:nvSpPr>
          <p:cNvPr name="TextBox 10" id="10"/>
          <p:cNvSpPr txBox="true"/>
          <p:nvPr/>
        </p:nvSpPr>
        <p:spPr>
          <a:xfrm rot="0">
            <a:off x="5118400" y="-76200"/>
            <a:ext cx="9802481" cy="1366896"/>
          </a:xfrm>
          <a:prstGeom prst="rect">
            <a:avLst/>
          </a:prstGeom>
        </p:spPr>
        <p:txBody>
          <a:bodyPr anchor="t" rtlCol="false" tIns="0" lIns="0" bIns="0" rIns="0">
            <a:spAutoFit/>
          </a:bodyPr>
          <a:lstStyle/>
          <a:p>
            <a:pPr algn="ctr">
              <a:lnSpc>
                <a:spcPts val="5509"/>
              </a:lnSpc>
            </a:pPr>
            <a:r>
              <a:rPr lang="en-US" b="true" sz="3935">
                <a:solidFill>
                  <a:srgbClr val="002B58"/>
                </a:solidFill>
                <a:latin typeface="Monda Bold"/>
                <a:ea typeface="Monda Bold"/>
                <a:cs typeface="Monda Bold"/>
                <a:sym typeface="Monda Bold"/>
              </a:rPr>
              <a:t>TASK 4: PIE CHART FOR CUSTOMER DISTRIBUTION</a:t>
            </a:r>
          </a:p>
        </p:txBody>
      </p:sp>
      <p:sp>
        <p:nvSpPr>
          <p:cNvPr name="TextBox 11" id="11"/>
          <p:cNvSpPr txBox="true"/>
          <p:nvPr/>
        </p:nvSpPr>
        <p:spPr>
          <a:xfrm rot="0">
            <a:off x="688832" y="6565648"/>
            <a:ext cx="17574925" cy="1743784"/>
          </a:xfrm>
          <a:prstGeom prst="rect">
            <a:avLst/>
          </a:prstGeom>
        </p:spPr>
        <p:txBody>
          <a:bodyPr anchor="t" rtlCol="false" tIns="0" lIns="0" bIns="0" rIns="0">
            <a:spAutoFit/>
          </a:bodyPr>
          <a:lstStyle/>
          <a:p>
            <a:pPr algn="l">
              <a:lnSpc>
                <a:spcPts val="4685"/>
              </a:lnSpc>
            </a:pPr>
            <a:r>
              <a:rPr lang="en-US" sz="3347" b="true">
                <a:solidFill>
                  <a:srgbClr val="002B58"/>
                </a:solidFill>
                <a:latin typeface="Monda Bold"/>
                <a:ea typeface="Monda Bold"/>
                <a:cs typeface="Monda Bold"/>
                <a:sym typeface="Monda Bold"/>
              </a:rPr>
              <a:t>INSIGHTS;</a:t>
            </a:r>
          </a:p>
          <a:p>
            <a:pPr algn="l">
              <a:lnSpc>
                <a:spcPts val="4685"/>
              </a:lnSpc>
              <a:spcBef>
                <a:spcPct val="0"/>
              </a:spcBef>
            </a:pPr>
            <a:r>
              <a:rPr lang="en-US" sz="3347">
                <a:solidFill>
                  <a:srgbClr val="002B58"/>
                </a:solidFill>
                <a:latin typeface="Monda"/>
                <a:ea typeface="Monda"/>
                <a:cs typeface="Monda"/>
                <a:sym typeface="Monda"/>
              </a:rPr>
              <a:t>N</a:t>
            </a:r>
            <a:r>
              <a:rPr lang="en-US" sz="3347">
                <a:solidFill>
                  <a:srgbClr val="002B58"/>
                </a:solidFill>
                <a:latin typeface="Monda"/>
                <a:ea typeface="Monda"/>
                <a:cs typeface="Monda"/>
                <a:sym typeface="Monda"/>
              </a:rPr>
              <a:t>ORTH LEADS WITH 26% OF THE CUSTOMER BASE, MAKING IT THE MOST DOMINANT REGION, WHILE SOUTH LAGS SLIGHTLY AT 24%.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1664608"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2509394" y="-1945766"/>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Object 7" id="7"/>
          <p:cNvGraphicFramePr/>
          <p:nvPr/>
        </p:nvGraphicFramePr>
        <p:xfrm>
          <a:off x="2138209" y="1777159"/>
          <a:ext cx="2514600" cy="2514600"/>
        </p:xfrm>
        <a:graphic>
          <a:graphicData uri="http://schemas.openxmlformats.org/presentationml/2006/ole">
            <p:oleObj imgW="3009900" imgH="30099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Freeform 8" id="8"/>
          <p:cNvSpPr/>
          <p:nvPr/>
        </p:nvSpPr>
        <p:spPr>
          <a:xfrm flipH="false" flipV="false" rot="0">
            <a:off x="9144000" y="1777159"/>
            <a:ext cx="8886902" cy="5155173"/>
          </a:xfrm>
          <a:custGeom>
            <a:avLst/>
            <a:gdLst/>
            <a:ahLst/>
            <a:cxnLst/>
            <a:rect r="r" b="b" t="t" l="l"/>
            <a:pathLst>
              <a:path h="5155173" w="8886902">
                <a:moveTo>
                  <a:pt x="0" y="0"/>
                </a:moveTo>
                <a:lnTo>
                  <a:pt x="8886902" y="0"/>
                </a:lnTo>
                <a:lnTo>
                  <a:pt x="8886902" y="5155172"/>
                </a:lnTo>
                <a:lnTo>
                  <a:pt x="0" y="5155172"/>
                </a:lnTo>
                <a:lnTo>
                  <a:pt x="0" y="0"/>
                </a:lnTo>
                <a:close/>
              </a:path>
            </a:pathLst>
          </a:custGeom>
          <a:blipFill>
            <a:blip r:embed="rId9"/>
            <a:stretch>
              <a:fillRect l="0" t="0" r="0" b="0"/>
            </a:stretch>
          </a:blipFill>
        </p:spPr>
      </p:sp>
      <p:sp>
        <p:nvSpPr>
          <p:cNvPr name="TextBox 9" id="9"/>
          <p:cNvSpPr txBox="true"/>
          <p:nvPr/>
        </p:nvSpPr>
        <p:spPr>
          <a:xfrm rot="0">
            <a:off x="5437162" y="-76200"/>
            <a:ext cx="9672231" cy="1366896"/>
          </a:xfrm>
          <a:prstGeom prst="rect">
            <a:avLst/>
          </a:prstGeom>
        </p:spPr>
        <p:txBody>
          <a:bodyPr anchor="t" rtlCol="false" tIns="0" lIns="0" bIns="0" rIns="0">
            <a:spAutoFit/>
          </a:bodyPr>
          <a:lstStyle/>
          <a:p>
            <a:pPr algn="ctr">
              <a:lnSpc>
                <a:spcPts val="5509"/>
              </a:lnSpc>
            </a:pPr>
            <a:r>
              <a:rPr lang="en-US" b="true" sz="3935">
                <a:solidFill>
                  <a:srgbClr val="002B58"/>
                </a:solidFill>
                <a:latin typeface="Monda Bold"/>
                <a:ea typeface="Monda Bold"/>
                <a:cs typeface="Monda Bold"/>
                <a:sym typeface="Monda Bold"/>
              </a:rPr>
              <a:t>TASK 5: DONUT CHART FOR PRODUCT REVENUE CONTRIBUTION</a:t>
            </a:r>
          </a:p>
        </p:txBody>
      </p:sp>
      <p:sp>
        <p:nvSpPr>
          <p:cNvPr name="Freeform 10" id="10"/>
          <p:cNvSpPr/>
          <p:nvPr/>
        </p:nvSpPr>
        <p:spPr>
          <a:xfrm flipH="false" flipV="false" rot="0">
            <a:off x="226496" y="7269928"/>
            <a:ext cx="437910" cy="485416"/>
          </a:xfrm>
          <a:custGeom>
            <a:avLst/>
            <a:gdLst/>
            <a:ahLst/>
            <a:cxnLst/>
            <a:rect r="r" b="b" t="t" l="l"/>
            <a:pathLst>
              <a:path h="485416" w="437910">
                <a:moveTo>
                  <a:pt x="0" y="0"/>
                </a:moveTo>
                <a:lnTo>
                  <a:pt x="437909" y="0"/>
                </a:lnTo>
                <a:lnTo>
                  <a:pt x="437909" y="485417"/>
                </a:lnTo>
                <a:lnTo>
                  <a:pt x="0" y="4854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771602" y="7212778"/>
            <a:ext cx="17032372" cy="2231753"/>
          </a:xfrm>
          <a:prstGeom prst="rect">
            <a:avLst/>
          </a:prstGeom>
        </p:spPr>
        <p:txBody>
          <a:bodyPr anchor="t" rtlCol="false" tIns="0" lIns="0" bIns="0" rIns="0">
            <a:spAutoFit/>
          </a:bodyPr>
          <a:lstStyle/>
          <a:p>
            <a:pPr algn="just">
              <a:lnSpc>
                <a:spcPts val="4483"/>
              </a:lnSpc>
            </a:pPr>
            <a:r>
              <a:rPr lang="en-US" b="true" sz="3202">
                <a:solidFill>
                  <a:srgbClr val="002B58"/>
                </a:solidFill>
                <a:latin typeface="Monda Bold"/>
                <a:ea typeface="Monda Bold"/>
                <a:cs typeface="Monda Bold"/>
                <a:sym typeface="Monda Bold"/>
              </a:rPr>
              <a:t>INSIGHTS;</a:t>
            </a:r>
          </a:p>
          <a:p>
            <a:pPr algn="just">
              <a:lnSpc>
                <a:spcPts val="4483"/>
              </a:lnSpc>
              <a:spcBef>
                <a:spcPct val="0"/>
              </a:spcBef>
            </a:pPr>
            <a:r>
              <a:rPr lang="en-US" sz="3202">
                <a:solidFill>
                  <a:srgbClr val="002B58"/>
                </a:solidFill>
                <a:latin typeface="Monda"/>
                <a:ea typeface="Monda"/>
                <a:cs typeface="Monda"/>
                <a:sym typeface="Monda"/>
              </a:rPr>
              <a:t>H</a:t>
            </a:r>
            <a:r>
              <a:rPr lang="en-US" sz="3202">
                <a:solidFill>
                  <a:srgbClr val="002B58"/>
                </a:solidFill>
                <a:latin typeface="Monda"/>
                <a:ea typeface="Monda"/>
                <a:cs typeface="Monda"/>
                <a:sym typeface="Monda"/>
              </a:rPr>
              <a:t>OME &amp; KITCHEN GENERATES THE HIGHEST REVENUE, WHILE TOYS CONTRIBUTE THE LEAST, THOUGH OVERALL CATEGORY PERFORMANCE IS RELATIVELY BALANCED.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1729321"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2509394" y="-1945766"/>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Object 7" id="7"/>
          <p:cNvGraphicFramePr/>
          <p:nvPr/>
        </p:nvGraphicFramePr>
        <p:xfrm>
          <a:off x="1445428" y="1660897"/>
          <a:ext cx="2514600" cy="7124700"/>
        </p:xfrm>
        <a:graphic>
          <a:graphicData uri="http://schemas.openxmlformats.org/presentationml/2006/ole">
            <p:oleObj imgW="3937000" imgH="85471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Freeform 8" id="8"/>
          <p:cNvSpPr/>
          <p:nvPr/>
        </p:nvSpPr>
        <p:spPr>
          <a:xfrm flipH="false" flipV="false" rot="0">
            <a:off x="202512" y="7860398"/>
            <a:ext cx="437910" cy="485416"/>
          </a:xfrm>
          <a:custGeom>
            <a:avLst/>
            <a:gdLst/>
            <a:ahLst/>
            <a:cxnLst/>
            <a:rect r="r" b="b" t="t" l="l"/>
            <a:pathLst>
              <a:path h="485416" w="437910">
                <a:moveTo>
                  <a:pt x="0" y="0"/>
                </a:moveTo>
                <a:lnTo>
                  <a:pt x="437910" y="0"/>
                </a:lnTo>
                <a:lnTo>
                  <a:pt x="437910" y="485417"/>
                </a:lnTo>
                <a:lnTo>
                  <a:pt x="0" y="48541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8550529" y="1660897"/>
            <a:ext cx="9388257" cy="5829300"/>
          </a:xfrm>
          <a:custGeom>
            <a:avLst/>
            <a:gdLst/>
            <a:ahLst/>
            <a:cxnLst/>
            <a:rect r="r" b="b" t="t" l="l"/>
            <a:pathLst>
              <a:path h="5829300" w="9388257">
                <a:moveTo>
                  <a:pt x="0" y="0"/>
                </a:moveTo>
                <a:lnTo>
                  <a:pt x="9388258" y="0"/>
                </a:lnTo>
                <a:lnTo>
                  <a:pt x="9388258" y="5829300"/>
                </a:lnTo>
                <a:lnTo>
                  <a:pt x="0" y="5829300"/>
                </a:lnTo>
                <a:lnTo>
                  <a:pt x="0" y="0"/>
                </a:lnTo>
                <a:close/>
              </a:path>
            </a:pathLst>
          </a:custGeom>
          <a:blipFill>
            <a:blip r:embed="rId11"/>
            <a:stretch>
              <a:fillRect l="-1742" t="0" r="-1742" b="0"/>
            </a:stretch>
          </a:blipFill>
        </p:spPr>
      </p:sp>
      <p:sp>
        <p:nvSpPr>
          <p:cNvPr name="TextBox 10" id="10"/>
          <p:cNvSpPr txBox="true"/>
          <p:nvPr/>
        </p:nvSpPr>
        <p:spPr>
          <a:xfrm rot="0">
            <a:off x="3294456" y="-76200"/>
            <a:ext cx="11840117" cy="1366896"/>
          </a:xfrm>
          <a:prstGeom prst="rect">
            <a:avLst/>
          </a:prstGeom>
        </p:spPr>
        <p:txBody>
          <a:bodyPr anchor="t" rtlCol="false" tIns="0" lIns="0" bIns="0" rIns="0">
            <a:spAutoFit/>
          </a:bodyPr>
          <a:lstStyle/>
          <a:p>
            <a:pPr algn="ctr">
              <a:lnSpc>
                <a:spcPts val="5509"/>
              </a:lnSpc>
            </a:pPr>
            <a:r>
              <a:rPr lang="en-US" b="true" sz="3935">
                <a:solidFill>
                  <a:srgbClr val="002B58"/>
                </a:solidFill>
                <a:latin typeface="Monda Bold"/>
                <a:ea typeface="Monda Bold"/>
                <a:cs typeface="Monda Bold"/>
                <a:sym typeface="Monda Bold"/>
              </a:rPr>
              <a:t>TASK 6: STACKED BAR PLOT FOR REGIONAL REVENUE BY GENDER</a:t>
            </a:r>
          </a:p>
        </p:txBody>
      </p:sp>
      <p:sp>
        <p:nvSpPr>
          <p:cNvPr name="TextBox 11" id="11"/>
          <p:cNvSpPr txBox="true"/>
          <p:nvPr/>
        </p:nvSpPr>
        <p:spPr>
          <a:xfrm rot="0">
            <a:off x="652303" y="7812773"/>
            <a:ext cx="16922622" cy="2027866"/>
          </a:xfrm>
          <a:prstGeom prst="rect">
            <a:avLst/>
          </a:prstGeom>
        </p:spPr>
        <p:txBody>
          <a:bodyPr anchor="t" rtlCol="false" tIns="0" lIns="0" bIns="0" rIns="0">
            <a:spAutoFit/>
          </a:bodyPr>
          <a:lstStyle/>
          <a:p>
            <a:pPr algn="just">
              <a:lnSpc>
                <a:spcPts val="4099"/>
              </a:lnSpc>
            </a:pPr>
            <a:r>
              <a:rPr lang="en-US" b="true" sz="2928">
                <a:solidFill>
                  <a:srgbClr val="002B58"/>
                </a:solidFill>
                <a:latin typeface="Monda Bold"/>
                <a:ea typeface="Monda Bold"/>
                <a:cs typeface="Monda Bold"/>
                <a:sym typeface="Monda Bold"/>
              </a:rPr>
              <a:t>INSIGHTS:</a:t>
            </a:r>
          </a:p>
          <a:p>
            <a:pPr algn="just">
              <a:lnSpc>
                <a:spcPts val="4099"/>
              </a:lnSpc>
              <a:spcBef>
                <a:spcPct val="0"/>
              </a:spcBef>
            </a:pPr>
            <a:r>
              <a:rPr lang="en-US" sz="2928">
                <a:solidFill>
                  <a:srgbClr val="002B58"/>
                </a:solidFill>
                <a:latin typeface="Monda"/>
                <a:ea typeface="Monda"/>
                <a:cs typeface="Monda"/>
                <a:sym typeface="Monda"/>
              </a:rPr>
              <a:t>N</a:t>
            </a:r>
            <a:r>
              <a:rPr lang="en-US" sz="2928">
                <a:solidFill>
                  <a:srgbClr val="002B58"/>
                </a:solidFill>
                <a:latin typeface="Monda"/>
                <a:ea typeface="Monda"/>
                <a:cs typeface="Monda"/>
                <a:sym typeface="Monda"/>
              </a:rPr>
              <a:t>ORTH LEADS IN REGIONAL REVENUE, WITH STRONG CONTRIBUTIONS ACROSS ALL GENDERS, ESPECIALLY THE 'OTHER' CATEGORY, WHILE WEST LAGS SLIGHTLY IN TOTAL REVENUE.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1599895"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2801239" y="-1729391"/>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451947"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919606" y="-49957"/>
            <a:ext cx="12327891" cy="1369720"/>
          </a:xfrm>
          <a:prstGeom prst="rect">
            <a:avLst/>
          </a:prstGeom>
        </p:spPr>
        <p:txBody>
          <a:bodyPr anchor="t" rtlCol="false" tIns="0" lIns="0" bIns="0" rIns="0">
            <a:spAutoFit/>
          </a:bodyPr>
          <a:lstStyle/>
          <a:p>
            <a:pPr algn="ctr">
              <a:lnSpc>
                <a:spcPts val="5521"/>
              </a:lnSpc>
            </a:pPr>
            <a:r>
              <a:rPr lang="en-US" b="true" sz="3943">
                <a:solidFill>
                  <a:srgbClr val="002B58"/>
                </a:solidFill>
                <a:latin typeface="Monda Bold"/>
                <a:ea typeface="Monda Bold"/>
                <a:cs typeface="Monda Bold"/>
                <a:sym typeface="Monda Bold"/>
              </a:rPr>
              <a:t>TASK 7: RELATIVE STACKED BAR PLOT FOR AGE GROUPS</a:t>
            </a:r>
          </a:p>
        </p:txBody>
      </p:sp>
      <p:graphicFrame>
        <p:nvGraphicFramePr>
          <p:cNvPr name="Object 8" id="8"/>
          <p:cNvGraphicFramePr/>
          <p:nvPr/>
        </p:nvGraphicFramePr>
        <p:xfrm>
          <a:off x="732271" y="2058108"/>
          <a:ext cx="8801100" cy="2514600"/>
        </p:xfrm>
        <a:graphic>
          <a:graphicData uri="http://schemas.openxmlformats.org/presentationml/2006/ole">
            <p:oleObj imgW="10553700" imgH="42672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8879904" y="2058108"/>
            <a:ext cx="9408096" cy="5568241"/>
          </a:xfrm>
          <a:custGeom>
            <a:avLst/>
            <a:gdLst/>
            <a:ahLst/>
            <a:cxnLst/>
            <a:rect r="r" b="b" t="t" l="l"/>
            <a:pathLst>
              <a:path h="5568241" w="9408096">
                <a:moveTo>
                  <a:pt x="0" y="0"/>
                </a:moveTo>
                <a:lnTo>
                  <a:pt x="9408096" y="0"/>
                </a:lnTo>
                <a:lnTo>
                  <a:pt x="9408096" y="5568242"/>
                </a:lnTo>
                <a:lnTo>
                  <a:pt x="0" y="5568242"/>
                </a:lnTo>
                <a:lnTo>
                  <a:pt x="0" y="0"/>
                </a:lnTo>
                <a:close/>
              </a:path>
            </a:pathLst>
          </a:custGeom>
          <a:blipFill>
            <a:blip r:embed="rId9"/>
            <a:stretch>
              <a:fillRect l="0" t="-172" r="0" b="-1338"/>
            </a:stretch>
          </a:blipFill>
        </p:spPr>
      </p:sp>
      <p:sp>
        <p:nvSpPr>
          <p:cNvPr name="Freeform 10" id="10"/>
          <p:cNvSpPr/>
          <p:nvPr/>
        </p:nvSpPr>
        <p:spPr>
          <a:xfrm flipH="false" flipV="false" rot="0">
            <a:off x="0" y="7925111"/>
            <a:ext cx="437910" cy="485416"/>
          </a:xfrm>
          <a:custGeom>
            <a:avLst/>
            <a:gdLst/>
            <a:ahLst/>
            <a:cxnLst/>
            <a:rect r="r" b="b" t="t" l="l"/>
            <a:pathLst>
              <a:path h="485416" w="437910">
                <a:moveTo>
                  <a:pt x="0" y="0"/>
                </a:moveTo>
                <a:lnTo>
                  <a:pt x="437910" y="0"/>
                </a:lnTo>
                <a:lnTo>
                  <a:pt x="437910" y="485417"/>
                </a:lnTo>
                <a:lnTo>
                  <a:pt x="0" y="4854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437910" y="7867961"/>
            <a:ext cx="16604846" cy="2187980"/>
          </a:xfrm>
          <a:prstGeom prst="rect">
            <a:avLst/>
          </a:prstGeom>
        </p:spPr>
        <p:txBody>
          <a:bodyPr anchor="t" rtlCol="false" tIns="0" lIns="0" bIns="0" rIns="0">
            <a:spAutoFit/>
          </a:bodyPr>
          <a:lstStyle/>
          <a:p>
            <a:pPr algn="just">
              <a:lnSpc>
                <a:spcPts val="4352"/>
              </a:lnSpc>
            </a:pPr>
            <a:r>
              <a:rPr lang="en-US" b="true" sz="3109">
                <a:solidFill>
                  <a:srgbClr val="002B58"/>
                </a:solidFill>
                <a:latin typeface="Monda Bold"/>
                <a:ea typeface="Monda Bold"/>
                <a:cs typeface="Monda Bold"/>
                <a:sym typeface="Monda Bold"/>
              </a:rPr>
              <a:t>INSIGHTS;</a:t>
            </a:r>
          </a:p>
          <a:p>
            <a:pPr algn="just">
              <a:lnSpc>
                <a:spcPts val="4352"/>
              </a:lnSpc>
              <a:spcBef>
                <a:spcPct val="0"/>
              </a:spcBef>
            </a:pPr>
            <a:r>
              <a:rPr lang="en-US" sz="3109">
                <a:solidFill>
                  <a:srgbClr val="002B58"/>
                </a:solidFill>
                <a:latin typeface="Monda"/>
                <a:ea typeface="Monda"/>
                <a:cs typeface="Monda"/>
                <a:sym typeface="Monda"/>
              </a:rPr>
              <a:t>THE 30–70 AGE GROUP DOMINATES PURCHASES ACROSS ALL REGIONS, WITH THE 60–70 SEGMENT LEADING, ESPECIALLY IN THE WEST, WHILE THE 10–19 GROUP CONTRIBUTES THE LEAST OVERALL.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599895"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801239" y="-1729391"/>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1947"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7654855"/>
            <a:ext cx="437910" cy="485416"/>
          </a:xfrm>
          <a:custGeom>
            <a:avLst/>
            <a:gdLst/>
            <a:ahLst/>
            <a:cxnLst/>
            <a:rect r="r" b="b" t="t" l="l"/>
            <a:pathLst>
              <a:path h="485416" w="437910">
                <a:moveTo>
                  <a:pt x="0" y="0"/>
                </a:moveTo>
                <a:lnTo>
                  <a:pt x="437910" y="0"/>
                </a:lnTo>
                <a:lnTo>
                  <a:pt x="437910" y="485416"/>
                </a:lnTo>
                <a:lnTo>
                  <a:pt x="0" y="4854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7" id="7"/>
          <p:cNvGraphicFramePr/>
          <p:nvPr/>
        </p:nvGraphicFramePr>
        <p:xfrm>
          <a:off x="1028700" y="1293520"/>
          <a:ext cx="7543800" cy="7543800"/>
        </p:xfrm>
        <a:graphic>
          <a:graphicData uri="http://schemas.openxmlformats.org/presentationml/2006/ole">
            <p:oleObj imgW="9042400" imgH="90424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Freeform 8" id="8"/>
          <p:cNvSpPr/>
          <p:nvPr/>
        </p:nvSpPr>
        <p:spPr>
          <a:xfrm flipH="false" flipV="false" rot="0">
            <a:off x="8572500" y="1293520"/>
            <a:ext cx="9715500" cy="6237066"/>
          </a:xfrm>
          <a:custGeom>
            <a:avLst/>
            <a:gdLst/>
            <a:ahLst/>
            <a:cxnLst/>
            <a:rect r="r" b="b" t="t" l="l"/>
            <a:pathLst>
              <a:path h="6237066" w="9715500">
                <a:moveTo>
                  <a:pt x="0" y="0"/>
                </a:moveTo>
                <a:lnTo>
                  <a:pt x="9715500" y="0"/>
                </a:lnTo>
                <a:lnTo>
                  <a:pt x="9715500" y="6237066"/>
                </a:lnTo>
                <a:lnTo>
                  <a:pt x="0" y="6237066"/>
                </a:lnTo>
                <a:lnTo>
                  <a:pt x="0" y="0"/>
                </a:lnTo>
                <a:close/>
              </a:path>
            </a:pathLst>
          </a:custGeom>
          <a:blipFill>
            <a:blip r:embed="rId10"/>
            <a:stretch>
              <a:fillRect l="0" t="-482" r="-8027" b="-482"/>
            </a:stretch>
          </a:blipFill>
        </p:spPr>
      </p:sp>
      <p:sp>
        <p:nvSpPr>
          <p:cNvPr name="TextBox 9" id="9"/>
          <p:cNvSpPr txBox="true"/>
          <p:nvPr/>
        </p:nvSpPr>
        <p:spPr>
          <a:xfrm rot="0">
            <a:off x="2422456" y="-76200"/>
            <a:ext cx="13825041" cy="1369720"/>
          </a:xfrm>
          <a:prstGeom prst="rect">
            <a:avLst/>
          </a:prstGeom>
        </p:spPr>
        <p:txBody>
          <a:bodyPr anchor="t" rtlCol="false" tIns="0" lIns="0" bIns="0" rIns="0">
            <a:spAutoFit/>
          </a:bodyPr>
          <a:lstStyle/>
          <a:p>
            <a:pPr algn="ctr">
              <a:lnSpc>
                <a:spcPts val="5521"/>
              </a:lnSpc>
            </a:pPr>
            <a:r>
              <a:rPr lang="en-US" b="true" sz="3943">
                <a:solidFill>
                  <a:srgbClr val="002B58"/>
                </a:solidFill>
                <a:latin typeface="Monda Bold"/>
                <a:ea typeface="Monda Bold"/>
                <a:cs typeface="Monda Bold"/>
                <a:sym typeface="Monda Bold"/>
              </a:rPr>
              <a:t>TASK 8: STACKED AREA PLOT FOR MONTHLY REVENUE</a:t>
            </a:r>
          </a:p>
        </p:txBody>
      </p:sp>
      <p:sp>
        <p:nvSpPr>
          <p:cNvPr name="TextBox 10" id="10"/>
          <p:cNvSpPr txBox="true"/>
          <p:nvPr/>
        </p:nvSpPr>
        <p:spPr>
          <a:xfrm rot="0">
            <a:off x="654454" y="7597705"/>
            <a:ext cx="16604846" cy="1083080"/>
          </a:xfrm>
          <a:prstGeom prst="rect">
            <a:avLst/>
          </a:prstGeom>
        </p:spPr>
        <p:txBody>
          <a:bodyPr anchor="t" rtlCol="false" tIns="0" lIns="0" bIns="0" rIns="0">
            <a:spAutoFit/>
          </a:bodyPr>
          <a:lstStyle/>
          <a:p>
            <a:pPr algn="just">
              <a:lnSpc>
                <a:spcPts val="4352"/>
              </a:lnSpc>
            </a:pPr>
            <a:r>
              <a:rPr lang="en-US" b="true" sz="3109">
                <a:solidFill>
                  <a:srgbClr val="002B58"/>
                </a:solidFill>
                <a:latin typeface="Monda Bold"/>
                <a:ea typeface="Monda Bold"/>
                <a:cs typeface="Monda Bold"/>
                <a:sym typeface="Monda Bold"/>
              </a:rPr>
              <a:t>INSIGHTS;</a:t>
            </a:r>
          </a:p>
          <a:p>
            <a:pPr algn="just">
              <a:lnSpc>
                <a:spcPts val="4352"/>
              </a:lnSpc>
              <a:spcBef>
                <a:spcPct val="0"/>
              </a:spcBef>
            </a:pPr>
          </a:p>
        </p:txBody>
      </p:sp>
      <p:sp>
        <p:nvSpPr>
          <p:cNvPr name="TextBox 11" id="11"/>
          <p:cNvSpPr txBox="true"/>
          <p:nvPr/>
        </p:nvSpPr>
        <p:spPr>
          <a:xfrm rot="0">
            <a:off x="654454" y="8173563"/>
            <a:ext cx="17137016" cy="2113437"/>
          </a:xfrm>
          <a:prstGeom prst="rect">
            <a:avLst/>
          </a:prstGeom>
        </p:spPr>
        <p:txBody>
          <a:bodyPr anchor="t" rtlCol="false" tIns="0" lIns="0" bIns="0" rIns="0">
            <a:spAutoFit/>
          </a:bodyPr>
          <a:lstStyle/>
          <a:p>
            <a:pPr algn="l">
              <a:lnSpc>
                <a:spcPts val="4261"/>
              </a:lnSpc>
              <a:spcBef>
                <a:spcPct val="0"/>
              </a:spcBef>
            </a:pPr>
            <a:r>
              <a:rPr lang="en-US" sz="3043">
                <a:solidFill>
                  <a:srgbClr val="002B58"/>
                </a:solidFill>
                <a:latin typeface="Monda"/>
                <a:ea typeface="Monda"/>
                <a:cs typeface="Monda"/>
                <a:sym typeface="Monda"/>
              </a:rPr>
              <a:t>TOYS AND HOME &amp; KITCHEN CONSISTENTLY LEAD MONTHLY REVENUES, WHILE FASHION AND ELECTRONICS SHOW VOLATILITY, AND BOOKS REMAIN THE LOWEST CONTRIBUTOR—WITH A SHARP DECLINE ACROSS ALL CATEGORIES IN DEC 2024 SIGNALING A POTENTIAL ANOMALY OR DISRUPTION.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599895"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801239" y="-1729391"/>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1947"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7682403"/>
            <a:ext cx="437910" cy="485416"/>
          </a:xfrm>
          <a:custGeom>
            <a:avLst/>
            <a:gdLst/>
            <a:ahLst/>
            <a:cxnLst/>
            <a:rect r="r" b="b" t="t" l="l"/>
            <a:pathLst>
              <a:path h="485416" w="437910">
                <a:moveTo>
                  <a:pt x="0" y="0"/>
                </a:moveTo>
                <a:lnTo>
                  <a:pt x="437910" y="0"/>
                </a:lnTo>
                <a:lnTo>
                  <a:pt x="437910" y="485417"/>
                </a:lnTo>
                <a:lnTo>
                  <a:pt x="0" y="4854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740333" y="1790433"/>
            <a:ext cx="9379643" cy="5637764"/>
          </a:xfrm>
          <a:custGeom>
            <a:avLst/>
            <a:gdLst/>
            <a:ahLst/>
            <a:cxnLst/>
            <a:rect r="r" b="b" t="t" l="l"/>
            <a:pathLst>
              <a:path h="5637764" w="9379643">
                <a:moveTo>
                  <a:pt x="0" y="0"/>
                </a:moveTo>
                <a:lnTo>
                  <a:pt x="9379642" y="0"/>
                </a:lnTo>
                <a:lnTo>
                  <a:pt x="9379642" y="5637765"/>
                </a:lnTo>
                <a:lnTo>
                  <a:pt x="0" y="5637765"/>
                </a:lnTo>
                <a:lnTo>
                  <a:pt x="0" y="0"/>
                </a:lnTo>
                <a:close/>
              </a:path>
            </a:pathLst>
          </a:custGeom>
          <a:blipFill>
            <a:blip r:embed="rId8"/>
            <a:stretch>
              <a:fillRect l="0" t="0" r="0" b="0"/>
            </a:stretch>
          </a:blipFill>
        </p:spPr>
      </p:sp>
      <p:sp>
        <p:nvSpPr>
          <p:cNvPr name="TextBox 8" id="8"/>
          <p:cNvSpPr txBox="true"/>
          <p:nvPr/>
        </p:nvSpPr>
        <p:spPr>
          <a:xfrm rot="0">
            <a:off x="3434259" y="-76200"/>
            <a:ext cx="12327891" cy="1369720"/>
          </a:xfrm>
          <a:prstGeom prst="rect">
            <a:avLst/>
          </a:prstGeom>
        </p:spPr>
        <p:txBody>
          <a:bodyPr anchor="t" rtlCol="false" tIns="0" lIns="0" bIns="0" rIns="0">
            <a:spAutoFit/>
          </a:bodyPr>
          <a:lstStyle/>
          <a:p>
            <a:pPr algn="ctr">
              <a:lnSpc>
                <a:spcPts val="5521"/>
              </a:lnSpc>
            </a:pPr>
            <a:r>
              <a:rPr lang="en-US" b="true" sz="3943">
                <a:solidFill>
                  <a:srgbClr val="002B58"/>
                </a:solidFill>
                <a:latin typeface="Monda Bold"/>
                <a:ea typeface="Monda Bold"/>
                <a:cs typeface="Monda Bold"/>
                <a:sym typeface="Monda Bold"/>
              </a:rPr>
              <a:t>TASK 9: SCATTER PLOT FOR AGE VS. PURCHASE AMOUNT</a:t>
            </a:r>
          </a:p>
        </p:txBody>
      </p:sp>
      <p:sp>
        <p:nvSpPr>
          <p:cNvPr name="TextBox 9" id="9"/>
          <p:cNvSpPr txBox="true"/>
          <p:nvPr/>
        </p:nvSpPr>
        <p:spPr>
          <a:xfrm rot="0">
            <a:off x="437910" y="7597705"/>
            <a:ext cx="16604846" cy="1083080"/>
          </a:xfrm>
          <a:prstGeom prst="rect">
            <a:avLst/>
          </a:prstGeom>
        </p:spPr>
        <p:txBody>
          <a:bodyPr anchor="t" rtlCol="false" tIns="0" lIns="0" bIns="0" rIns="0">
            <a:spAutoFit/>
          </a:bodyPr>
          <a:lstStyle/>
          <a:p>
            <a:pPr algn="just">
              <a:lnSpc>
                <a:spcPts val="4352"/>
              </a:lnSpc>
            </a:pPr>
            <a:r>
              <a:rPr lang="en-US" b="true" sz="3109">
                <a:solidFill>
                  <a:srgbClr val="002B58"/>
                </a:solidFill>
                <a:latin typeface="Monda Bold"/>
                <a:ea typeface="Monda Bold"/>
                <a:cs typeface="Monda Bold"/>
                <a:sym typeface="Monda Bold"/>
              </a:rPr>
              <a:t>INSIGHTS;</a:t>
            </a:r>
          </a:p>
          <a:p>
            <a:pPr algn="just">
              <a:lnSpc>
                <a:spcPts val="4352"/>
              </a:lnSpc>
              <a:spcBef>
                <a:spcPct val="0"/>
              </a:spcBef>
            </a:pPr>
          </a:p>
        </p:txBody>
      </p:sp>
      <p:graphicFrame>
        <p:nvGraphicFramePr>
          <p:cNvPr name="Object 10" id="10"/>
          <p:cNvGraphicFramePr/>
          <p:nvPr/>
        </p:nvGraphicFramePr>
        <p:xfrm>
          <a:off x="1520756" y="1790433"/>
          <a:ext cx="2990850" cy="2933700"/>
        </p:xfrm>
        <a:graphic>
          <a:graphicData uri="http://schemas.openxmlformats.org/presentationml/2006/ole">
            <p:oleObj imgW="3581400" imgH="35306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sp>
        <p:nvSpPr>
          <p:cNvPr name="TextBox 11" id="11"/>
          <p:cNvSpPr txBox="true"/>
          <p:nvPr/>
        </p:nvSpPr>
        <p:spPr>
          <a:xfrm rot="0">
            <a:off x="560012" y="8402877"/>
            <a:ext cx="16482744" cy="1644172"/>
          </a:xfrm>
          <a:prstGeom prst="rect">
            <a:avLst/>
          </a:prstGeom>
        </p:spPr>
        <p:txBody>
          <a:bodyPr anchor="t" rtlCol="false" tIns="0" lIns="0" bIns="0" rIns="0">
            <a:spAutoFit/>
          </a:bodyPr>
          <a:lstStyle/>
          <a:p>
            <a:pPr algn="l">
              <a:lnSpc>
                <a:spcPts val="4401"/>
              </a:lnSpc>
              <a:spcBef>
                <a:spcPct val="0"/>
              </a:spcBef>
            </a:pPr>
            <a:r>
              <a:rPr lang="en-US" sz="3143">
                <a:solidFill>
                  <a:srgbClr val="002B58"/>
                </a:solidFill>
                <a:latin typeface="Monda"/>
                <a:ea typeface="Monda"/>
                <a:cs typeface="Monda"/>
                <a:sym typeface="Monda"/>
              </a:rPr>
              <a:t>PURCHASE AMOUNTS ARE HIGHEST AT AGE 14.5, DIP DURING MIDDLE AGE, AND RISE AGAIN SLIGHTLY BY AGE 65, INDICATING A U-SHAPED SPENDING TREND ACROSS AGE GROUPS.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599895"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801239" y="-1729391"/>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1947"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16545" y="7384598"/>
            <a:ext cx="437910" cy="485416"/>
          </a:xfrm>
          <a:custGeom>
            <a:avLst/>
            <a:gdLst/>
            <a:ahLst/>
            <a:cxnLst/>
            <a:rect r="r" b="b" t="t" l="l"/>
            <a:pathLst>
              <a:path h="485416" w="437910">
                <a:moveTo>
                  <a:pt x="0" y="0"/>
                </a:moveTo>
                <a:lnTo>
                  <a:pt x="437909" y="0"/>
                </a:lnTo>
                <a:lnTo>
                  <a:pt x="437909" y="485417"/>
                </a:lnTo>
                <a:lnTo>
                  <a:pt x="0" y="4854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494435" y="1538268"/>
            <a:ext cx="9388257" cy="5632954"/>
          </a:xfrm>
          <a:custGeom>
            <a:avLst/>
            <a:gdLst/>
            <a:ahLst/>
            <a:cxnLst/>
            <a:rect r="r" b="b" t="t" l="l"/>
            <a:pathLst>
              <a:path h="5632954" w="9388257">
                <a:moveTo>
                  <a:pt x="0" y="0"/>
                </a:moveTo>
                <a:lnTo>
                  <a:pt x="9388257" y="0"/>
                </a:lnTo>
                <a:lnTo>
                  <a:pt x="9388257" y="5632954"/>
                </a:lnTo>
                <a:lnTo>
                  <a:pt x="0" y="5632954"/>
                </a:lnTo>
                <a:lnTo>
                  <a:pt x="0" y="0"/>
                </a:lnTo>
                <a:close/>
              </a:path>
            </a:pathLst>
          </a:custGeom>
          <a:blipFill>
            <a:blip r:embed="rId8"/>
            <a:stretch>
              <a:fillRect l="0" t="0" r="0" b="0"/>
            </a:stretch>
          </a:blipFill>
        </p:spPr>
      </p:sp>
      <p:sp>
        <p:nvSpPr>
          <p:cNvPr name="TextBox 8" id="8"/>
          <p:cNvSpPr txBox="true"/>
          <p:nvPr/>
        </p:nvSpPr>
        <p:spPr>
          <a:xfrm rot="0">
            <a:off x="3434259" y="-76200"/>
            <a:ext cx="12327891" cy="672874"/>
          </a:xfrm>
          <a:prstGeom prst="rect">
            <a:avLst/>
          </a:prstGeom>
        </p:spPr>
        <p:txBody>
          <a:bodyPr anchor="t" rtlCol="false" tIns="0" lIns="0" bIns="0" rIns="0">
            <a:spAutoFit/>
          </a:bodyPr>
          <a:lstStyle/>
          <a:p>
            <a:pPr algn="ctr">
              <a:lnSpc>
                <a:spcPts val="5521"/>
              </a:lnSpc>
            </a:pPr>
            <a:r>
              <a:rPr lang="en-US" b="true" sz="3943">
                <a:solidFill>
                  <a:srgbClr val="002B58"/>
                </a:solidFill>
                <a:latin typeface="Monda Bold"/>
                <a:ea typeface="Monda Bold"/>
                <a:cs typeface="Monda Bold"/>
                <a:sym typeface="Monda Bold"/>
              </a:rPr>
              <a:t>TASK 10: BAR PLOT FOR TOTAL PURCHASES</a:t>
            </a:r>
          </a:p>
        </p:txBody>
      </p:sp>
      <p:sp>
        <p:nvSpPr>
          <p:cNvPr name="TextBox 9" id="9"/>
          <p:cNvSpPr txBox="true"/>
          <p:nvPr/>
        </p:nvSpPr>
        <p:spPr>
          <a:xfrm rot="0">
            <a:off x="970080" y="7327448"/>
            <a:ext cx="16604846" cy="1083080"/>
          </a:xfrm>
          <a:prstGeom prst="rect">
            <a:avLst/>
          </a:prstGeom>
        </p:spPr>
        <p:txBody>
          <a:bodyPr anchor="t" rtlCol="false" tIns="0" lIns="0" bIns="0" rIns="0">
            <a:spAutoFit/>
          </a:bodyPr>
          <a:lstStyle/>
          <a:p>
            <a:pPr algn="just">
              <a:lnSpc>
                <a:spcPts val="4352"/>
              </a:lnSpc>
            </a:pPr>
            <a:r>
              <a:rPr lang="en-US" b="true" sz="3109">
                <a:solidFill>
                  <a:srgbClr val="002B58"/>
                </a:solidFill>
                <a:latin typeface="Monda Bold"/>
                <a:ea typeface="Monda Bold"/>
                <a:cs typeface="Monda Bold"/>
                <a:sym typeface="Monda Bold"/>
              </a:rPr>
              <a:t>INSIGHTS;</a:t>
            </a:r>
          </a:p>
          <a:p>
            <a:pPr algn="just">
              <a:lnSpc>
                <a:spcPts val="4352"/>
              </a:lnSpc>
              <a:spcBef>
                <a:spcPct val="0"/>
              </a:spcBef>
            </a:pPr>
          </a:p>
        </p:txBody>
      </p:sp>
      <p:graphicFrame>
        <p:nvGraphicFramePr>
          <p:cNvPr name="Object 10" id="10"/>
          <p:cNvGraphicFramePr/>
          <p:nvPr/>
        </p:nvGraphicFramePr>
        <p:xfrm>
          <a:off x="1294260" y="1538268"/>
          <a:ext cx="2943225" cy="2514600"/>
        </p:xfrm>
        <a:graphic>
          <a:graphicData uri="http://schemas.openxmlformats.org/presentationml/2006/ole">
            <p:oleObj imgW="3530600" imgH="30988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sp>
        <p:nvSpPr>
          <p:cNvPr name="TextBox 11" id="11"/>
          <p:cNvSpPr txBox="true"/>
          <p:nvPr/>
        </p:nvSpPr>
        <p:spPr>
          <a:xfrm rot="0">
            <a:off x="940587" y="7840413"/>
            <a:ext cx="15107696" cy="2239581"/>
          </a:xfrm>
          <a:prstGeom prst="rect">
            <a:avLst/>
          </a:prstGeom>
        </p:spPr>
        <p:txBody>
          <a:bodyPr anchor="t" rtlCol="false" tIns="0" lIns="0" bIns="0" rIns="0">
            <a:spAutoFit/>
          </a:bodyPr>
          <a:lstStyle/>
          <a:p>
            <a:pPr algn="l">
              <a:lnSpc>
                <a:spcPts val="4486"/>
              </a:lnSpc>
              <a:spcBef>
                <a:spcPct val="0"/>
              </a:spcBef>
            </a:pPr>
            <a:r>
              <a:rPr lang="en-US" sz="3204">
                <a:solidFill>
                  <a:srgbClr val="002B58"/>
                </a:solidFill>
                <a:latin typeface="Monda"/>
                <a:ea typeface="Monda"/>
                <a:cs typeface="Monda"/>
                <a:sym typeface="Monda"/>
              </a:rPr>
              <a:t>"HOME &amp; KITCHEN" TOPS THE CHART WITH THE HIGHEST NUMBER OF PURCHASES, WHILE "TOYS", DESPITE BEING HIGH IN REVENUE, RANKS LOWEST IN PURCHASE FREQUENCY — INDICATING FEWER BUT HIGHER-VALUE SALES.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599895"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801239" y="-1729391"/>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1947"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7925111"/>
            <a:ext cx="437910" cy="485416"/>
          </a:xfrm>
          <a:custGeom>
            <a:avLst/>
            <a:gdLst/>
            <a:ahLst/>
            <a:cxnLst/>
            <a:rect r="r" b="b" t="t" l="l"/>
            <a:pathLst>
              <a:path h="485416" w="437910">
                <a:moveTo>
                  <a:pt x="0" y="0"/>
                </a:moveTo>
                <a:lnTo>
                  <a:pt x="437910" y="0"/>
                </a:lnTo>
                <a:lnTo>
                  <a:pt x="437910" y="485417"/>
                </a:lnTo>
                <a:lnTo>
                  <a:pt x="0" y="4854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7" id="7"/>
          <p:cNvGraphicFramePr/>
          <p:nvPr/>
        </p:nvGraphicFramePr>
        <p:xfrm>
          <a:off x="1358973" y="1535863"/>
          <a:ext cx="2514600" cy="2933700"/>
        </p:xfrm>
        <a:graphic>
          <a:graphicData uri="http://schemas.openxmlformats.org/presentationml/2006/ole">
            <p:oleObj imgW="3098800" imgH="35179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Freeform 8" id="8"/>
          <p:cNvSpPr/>
          <p:nvPr/>
        </p:nvSpPr>
        <p:spPr>
          <a:xfrm flipH="false" flipV="false" rot="0">
            <a:off x="8195283" y="1535863"/>
            <a:ext cx="9379643" cy="5637764"/>
          </a:xfrm>
          <a:custGeom>
            <a:avLst/>
            <a:gdLst/>
            <a:ahLst/>
            <a:cxnLst/>
            <a:rect r="r" b="b" t="t" l="l"/>
            <a:pathLst>
              <a:path h="5637764" w="9379643">
                <a:moveTo>
                  <a:pt x="0" y="0"/>
                </a:moveTo>
                <a:lnTo>
                  <a:pt x="9379642" y="0"/>
                </a:lnTo>
                <a:lnTo>
                  <a:pt x="9379642" y="5637764"/>
                </a:lnTo>
                <a:lnTo>
                  <a:pt x="0" y="5637764"/>
                </a:lnTo>
                <a:lnTo>
                  <a:pt x="0" y="0"/>
                </a:lnTo>
                <a:close/>
              </a:path>
            </a:pathLst>
          </a:custGeom>
          <a:blipFill>
            <a:blip r:embed="rId10"/>
            <a:stretch>
              <a:fillRect l="0" t="0" r="0" b="0"/>
            </a:stretch>
          </a:blipFill>
        </p:spPr>
      </p:sp>
      <p:sp>
        <p:nvSpPr>
          <p:cNvPr name="TextBox 9" id="9"/>
          <p:cNvSpPr txBox="true"/>
          <p:nvPr/>
        </p:nvSpPr>
        <p:spPr>
          <a:xfrm rot="0">
            <a:off x="3434259" y="-76200"/>
            <a:ext cx="11971970" cy="1369720"/>
          </a:xfrm>
          <a:prstGeom prst="rect">
            <a:avLst/>
          </a:prstGeom>
        </p:spPr>
        <p:txBody>
          <a:bodyPr anchor="t" rtlCol="false" tIns="0" lIns="0" bIns="0" rIns="0">
            <a:spAutoFit/>
          </a:bodyPr>
          <a:lstStyle/>
          <a:p>
            <a:pPr algn="ctr">
              <a:lnSpc>
                <a:spcPts val="5521"/>
              </a:lnSpc>
            </a:pPr>
            <a:r>
              <a:rPr lang="en-US" b="true" sz="3943">
                <a:solidFill>
                  <a:srgbClr val="002B58"/>
                </a:solidFill>
                <a:latin typeface="Monda Bold"/>
                <a:ea typeface="Monda Bold"/>
                <a:cs typeface="Monda Bold"/>
                <a:sym typeface="Monda Bold"/>
              </a:rPr>
              <a:t>TASK 11: CONTINUOUS VS CONTINUOUS ANALYSIS </a:t>
            </a:r>
          </a:p>
        </p:txBody>
      </p:sp>
      <p:sp>
        <p:nvSpPr>
          <p:cNvPr name="TextBox 10" id="10"/>
          <p:cNvSpPr txBox="true"/>
          <p:nvPr/>
        </p:nvSpPr>
        <p:spPr>
          <a:xfrm rot="0">
            <a:off x="437910" y="7867961"/>
            <a:ext cx="16604846" cy="1083080"/>
          </a:xfrm>
          <a:prstGeom prst="rect">
            <a:avLst/>
          </a:prstGeom>
        </p:spPr>
        <p:txBody>
          <a:bodyPr anchor="t" rtlCol="false" tIns="0" lIns="0" bIns="0" rIns="0">
            <a:spAutoFit/>
          </a:bodyPr>
          <a:lstStyle/>
          <a:p>
            <a:pPr algn="just">
              <a:lnSpc>
                <a:spcPts val="4352"/>
              </a:lnSpc>
            </a:pPr>
            <a:r>
              <a:rPr lang="en-US" b="true" sz="3109">
                <a:solidFill>
                  <a:srgbClr val="002B58"/>
                </a:solidFill>
                <a:latin typeface="Monda Bold"/>
                <a:ea typeface="Monda Bold"/>
                <a:cs typeface="Monda Bold"/>
                <a:sym typeface="Monda Bold"/>
              </a:rPr>
              <a:t>INSIGHTS;</a:t>
            </a:r>
          </a:p>
          <a:p>
            <a:pPr algn="just">
              <a:lnSpc>
                <a:spcPts val="4352"/>
              </a:lnSpc>
              <a:spcBef>
                <a:spcPct val="0"/>
              </a:spcBef>
            </a:pPr>
          </a:p>
        </p:txBody>
      </p:sp>
      <p:sp>
        <p:nvSpPr>
          <p:cNvPr name="TextBox 11" id="11"/>
          <p:cNvSpPr txBox="true"/>
          <p:nvPr/>
        </p:nvSpPr>
        <p:spPr>
          <a:xfrm rot="0">
            <a:off x="437910" y="8653066"/>
            <a:ext cx="16821390" cy="1153317"/>
          </a:xfrm>
          <a:prstGeom prst="rect">
            <a:avLst/>
          </a:prstGeom>
        </p:spPr>
        <p:txBody>
          <a:bodyPr anchor="t" rtlCol="false" tIns="0" lIns="0" bIns="0" rIns="0">
            <a:spAutoFit/>
          </a:bodyPr>
          <a:lstStyle/>
          <a:p>
            <a:pPr algn="l">
              <a:lnSpc>
                <a:spcPts val="4681"/>
              </a:lnSpc>
              <a:spcBef>
                <a:spcPct val="0"/>
              </a:spcBef>
            </a:pPr>
            <a:r>
              <a:rPr lang="en-US" sz="3343">
                <a:solidFill>
                  <a:srgbClr val="002B58"/>
                </a:solidFill>
                <a:latin typeface="Monda"/>
                <a:ea typeface="Monda"/>
                <a:cs typeface="Monda"/>
                <a:sym typeface="Monda"/>
              </a:rPr>
              <a:t>PURCHASE AMOUNTS STEADILY INCREASE WITH CUSTOMER AGE UNTIL MIDDLE ADULTHOOD, WHERE SPENDING PEAKS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599895"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801239" y="-1729391"/>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1947"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7925111"/>
            <a:ext cx="437910" cy="485416"/>
          </a:xfrm>
          <a:custGeom>
            <a:avLst/>
            <a:gdLst/>
            <a:ahLst/>
            <a:cxnLst/>
            <a:rect r="r" b="b" t="t" l="l"/>
            <a:pathLst>
              <a:path h="485416" w="437910">
                <a:moveTo>
                  <a:pt x="0" y="0"/>
                </a:moveTo>
                <a:lnTo>
                  <a:pt x="437910" y="0"/>
                </a:lnTo>
                <a:lnTo>
                  <a:pt x="437910" y="485417"/>
                </a:lnTo>
                <a:lnTo>
                  <a:pt x="0" y="4854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7" id="7"/>
          <p:cNvGraphicFramePr/>
          <p:nvPr/>
        </p:nvGraphicFramePr>
        <p:xfrm>
          <a:off x="1028700" y="1467398"/>
          <a:ext cx="2695575" cy="7543800"/>
        </p:xfrm>
        <a:graphic>
          <a:graphicData uri="http://schemas.openxmlformats.org/presentationml/2006/ole">
            <p:oleObj imgW="4191000" imgH="90424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Freeform 8" id="8"/>
          <p:cNvSpPr/>
          <p:nvPr/>
        </p:nvSpPr>
        <p:spPr>
          <a:xfrm flipH="false" flipV="false" rot="0">
            <a:off x="7141096" y="1411514"/>
            <a:ext cx="11146904" cy="6283834"/>
          </a:xfrm>
          <a:custGeom>
            <a:avLst/>
            <a:gdLst/>
            <a:ahLst/>
            <a:cxnLst/>
            <a:rect r="r" b="b" t="t" l="l"/>
            <a:pathLst>
              <a:path h="6283834" w="11146904">
                <a:moveTo>
                  <a:pt x="0" y="0"/>
                </a:moveTo>
                <a:lnTo>
                  <a:pt x="11146904" y="0"/>
                </a:lnTo>
                <a:lnTo>
                  <a:pt x="11146904" y="6283835"/>
                </a:lnTo>
                <a:lnTo>
                  <a:pt x="0" y="6283835"/>
                </a:lnTo>
                <a:lnTo>
                  <a:pt x="0" y="0"/>
                </a:lnTo>
                <a:close/>
              </a:path>
            </a:pathLst>
          </a:custGeom>
          <a:blipFill>
            <a:blip r:embed="rId10"/>
            <a:stretch>
              <a:fillRect l="0" t="-2319" r="0" b="-2319"/>
            </a:stretch>
          </a:blipFill>
        </p:spPr>
      </p:sp>
      <p:sp>
        <p:nvSpPr>
          <p:cNvPr name="TextBox 9" id="9"/>
          <p:cNvSpPr txBox="true"/>
          <p:nvPr/>
        </p:nvSpPr>
        <p:spPr>
          <a:xfrm rot="0">
            <a:off x="3434259" y="-76200"/>
            <a:ext cx="12327891" cy="1369720"/>
          </a:xfrm>
          <a:prstGeom prst="rect">
            <a:avLst/>
          </a:prstGeom>
        </p:spPr>
        <p:txBody>
          <a:bodyPr anchor="t" rtlCol="false" tIns="0" lIns="0" bIns="0" rIns="0">
            <a:spAutoFit/>
          </a:bodyPr>
          <a:lstStyle/>
          <a:p>
            <a:pPr algn="ctr">
              <a:lnSpc>
                <a:spcPts val="5521"/>
              </a:lnSpc>
            </a:pPr>
            <a:r>
              <a:rPr lang="en-US" b="true" sz="3943">
                <a:solidFill>
                  <a:srgbClr val="002B58"/>
                </a:solidFill>
                <a:latin typeface="Monda Bold"/>
                <a:ea typeface="Monda Bold"/>
                <a:cs typeface="Monda Bold"/>
                <a:sym typeface="Monda Bold"/>
              </a:rPr>
              <a:t>TASK 12: LINE PLOT FOR MONTHLY PURCHASE TRENDS</a:t>
            </a:r>
          </a:p>
        </p:txBody>
      </p:sp>
      <p:sp>
        <p:nvSpPr>
          <p:cNvPr name="TextBox 10" id="10"/>
          <p:cNvSpPr txBox="true"/>
          <p:nvPr/>
        </p:nvSpPr>
        <p:spPr>
          <a:xfrm rot="0">
            <a:off x="437910" y="7867961"/>
            <a:ext cx="16604846" cy="1083080"/>
          </a:xfrm>
          <a:prstGeom prst="rect">
            <a:avLst/>
          </a:prstGeom>
        </p:spPr>
        <p:txBody>
          <a:bodyPr anchor="t" rtlCol="false" tIns="0" lIns="0" bIns="0" rIns="0">
            <a:spAutoFit/>
          </a:bodyPr>
          <a:lstStyle/>
          <a:p>
            <a:pPr algn="just">
              <a:lnSpc>
                <a:spcPts val="4352"/>
              </a:lnSpc>
            </a:pPr>
            <a:r>
              <a:rPr lang="en-US" b="true" sz="3109">
                <a:solidFill>
                  <a:srgbClr val="002B58"/>
                </a:solidFill>
                <a:latin typeface="Monda Bold"/>
                <a:ea typeface="Monda Bold"/>
                <a:cs typeface="Monda Bold"/>
                <a:sym typeface="Monda Bold"/>
              </a:rPr>
              <a:t>INSIGHTS;</a:t>
            </a:r>
          </a:p>
          <a:p>
            <a:pPr algn="just">
              <a:lnSpc>
                <a:spcPts val="4352"/>
              </a:lnSpc>
              <a:spcBef>
                <a:spcPct val="0"/>
              </a:spcBef>
            </a:pPr>
          </a:p>
        </p:txBody>
      </p:sp>
      <p:sp>
        <p:nvSpPr>
          <p:cNvPr name="TextBox 11" id="11"/>
          <p:cNvSpPr txBox="true"/>
          <p:nvPr/>
        </p:nvSpPr>
        <p:spPr>
          <a:xfrm rot="0">
            <a:off x="454204" y="8402877"/>
            <a:ext cx="16588551" cy="1644172"/>
          </a:xfrm>
          <a:prstGeom prst="rect">
            <a:avLst/>
          </a:prstGeom>
        </p:spPr>
        <p:txBody>
          <a:bodyPr anchor="t" rtlCol="false" tIns="0" lIns="0" bIns="0" rIns="0">
            <a:spAutoFit/>
          </a:bodyPr>
          <a:lstStyle/>
          <a:p>
            <a:pPr algn="l">
              <a:lnSpc>
                <a:spcPts val="4401"/>
              </a:lnSpc>
              <a:spcBef>
                <a:spcPct val="0"/>
              </a:spcBef>
            </a:pPr>
            <a:r>
              <a:rPr lang="en-US" sz="3143">
                <a:solidFill>
                  <a:srgbClr val="002B58"/>
                </a:solidFill>
                <a:latin typeface="Monda"/>
                <a:ea typeface="Monda"/>
                <a:cs typeface="Monda"/>
                <a:sym typeface="Monda"/>
              </a:rPr>
              <a:t>PURCHASES SHOWED CONSISTENT STABILITY OVER TIME, PEAKING IN OCTOBER 2023 DUE TO SEASONAL DEMAND, WHILE A SHARP DROP IN DECEMBER 2024 SUGGESTS A POTENTIAL DISRUPTION OR OFF-SEASON EFFECT.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599895"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801239" y="-1729391"/>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1947"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34259" y="-76200"/>
            <a:ext cx="12327891" cy="2066566"/>
          </a:xfrm>
          <a:prstGeom prst="rect">
            <a:avLst/>
          </a:prstGeom>
        </p:spPr>
        <p:txBody>
          <a:bodyPr anchor="t" rtlCol="false" tIns="0" lIns="0" bIns="0" rIns="0">
            <a:spAutoFit/>
          </a:bodyPr>
          <a:lstStyle/>
          <a:p>
            <a:pPr algn="ctr">
              <a:lnSpc>
                <a:spcPts val="5521"/>
              </a:lnSpc>
            </a:pPr>
            <a:r>
              <a:rPr lang="en-US" b="true" sz="3943">
                <a:solidFill>
                  <a:srgbClr val="002B58"/>
                </a:solidFill>
                <a:latin typeface="Monda Bold"/>
                <a:ea typeface="Monda Bold"/>
                <a:cs typeface="Monda Bold"/>
                <a:sym typeface="Monda Bold"/>
              </a:rPr>
              <a:t>TASK 13: GENDER-WISE PRODUCT CATEGORY PREFERENCE</a:t>
            </a:r>
          </a:p>
          <a:p>
            <a:pPr algn="ctr">
              <a:lnSpc>
                <a:spcPts val="5521"/>
              </a:lnSpc>
            </a:pPr>
          </a:p>
        </p:txBody>
      </p:sp>
      <p:sp>
        <p:nvSpPr>
          <p:cNvPr name="Freeform 7" id="7"/>
          <p:cNvSpPr/>
          <p:nvPr/>
        </p:nvSpPr>
        <p:spPr>
          <a:xfrm flipH="false" flipV="false" rot="0">
            <a:off x="0" y="7925111"/>
            <a:ext cx="437910" cy="485416"/>
          </a:xfrm>
          <a:custGeom>
            <a:avLst/>
            <a:gdLst/>
            <a:ahLst/>
            <a:cxnLst/>
            <a:rect r="r" b="b" t="t" l="l"/>
            <a:pathLst>
              <a:path h="485416" w="437910">
                <a:moveTo>
                  <a:pt x="0" y="0"/>
                </a:moveTo>
                <a:lnTo>
                  <a:pt x="437910" y="0"/>
                </a:lnTo>
                <a:lnTo>
                  <a:pt x="437910" y="485417"/>
                </a:lnTo>
                <a:lnTo>
                  <a:pt x="0" y="4854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8" id="8"/>
          <p:cNvGraphicFramePr/>
          <p:nvPr/>
        </p:nvGraphicFramePr>
        <p:xfrm>
          <a:off x="1028700" y="1758309"/>
          <a:ext cx="5067300" cy="2933700"/>
        </p:xfrm>
        <a:graphic>
          <a:graphicData uri="http://schemas.openxmlformats.org/presentationml/2006/ole">
            <p:oleObj imgW="6070600" imgH="39370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7871043" y="1758309"/>
            <a:ext cx="10164814" cy="5632954"/>
          </a:xfrm>
          <a:custGeom>
            <a:avLst/>
            <a:gdLst/>
            <a:ahLst/>
            <a:cxnLst/>
            <a:rect r="r" b="b" t="t" l="l"/>
            <a:pathLst>
              <a:path h="5632954" w="10164814">
                <a:moveTo>
                  <a:pt x="0" y="0"/>
                </a:moveTo>
                <a:lnTo>
                  <a:pt x="10164813" y="0"/>
                </a:lnTo>
                <a:lnTo>
                  <a:pt x="10164813" y="5632954"/>
                </a:lnTo>
                <a:lnTo>
                  <a:pt x="0" y="5632954"/>
                </a:lnTo>
                <a:lnTo>
                  <a:pt x="0" y="0"/>
                </a:lnTo>
                <a:close/>
              </a:path>
            </a:pathLst>
          </a:custGeom>
          <a:blipFill>
            <a:blip r:embed="rId10"/>
            <a:stretch>
              <a:fillRect l="0" t="-4135" r="0" b="-4135"/>
            </a:stretch>
          </a:blipFill>
        </p:spPr>
      </p:sp>
      <p:sp>
        <p:nvSpPr>
          <p:cNvPr name="TextBox 10" id="10"/>
          <p:cNvSpPr txBox="true"/>
          <p:nvPr/>
        </p:nvSpPr>
        <p:spPr>
          <a:xfrm rot="0">
            <a:off x="437910" y="7867961"/>
            <a:ext cx="16604846" cy="1083080"/>
          </a:xfrm>
          <a:prstGeom prst="rect">
            <a:avLst/>
          </a:prstGeom>
        </p:spPr>
        <p:txBody>
          <a:bodyPr anchor="t" rtlCol="false" tIns="0" lIns="0" bIns="0" rIns="0">
            <a:spAutoFit/>
          </a:bodyPr>
          <a:lstStyle/>
          <a:p>
            <a:pPr algn="just">
              <a:lnSpc>
                <a:spcPts val="4352"/>
              </a:lnSpc>
            </a:pPr>
            <a:r>
              <a:rPr lang="en-US" b="true" sz="3109">
                <a:solidFill>
                  <a:srgbClr val="002B58"/>
                </a:solidFill>
                <a:latin typeface="Monda Bold"/>
                <a:ea typeface="Monda Bold"/>
                <a:cs typeface="Monda Bold"/>
                <a:sym typeface="Monda Bold"/>
              </a:rPr>
              <a:t>INSIGHTS;</a:t>
            </a:r>
          </a:p>
          <a:p>
            <a:pPr algn="just">
              <a:lnSpc>
                <a:spcPts val="4352"/>
              </a:lnSpc>
              <a:spcBef>
                <a:spcPct val="0"/>
              </a:spcBef>
            </a:pPr>
          </a:p>
        </p:txBody>
      </p:sp>
      <p:sp>
        <p:nvSpPr>
          <p:cNvPr name="TextBox 11" id="11"/>
          <p:cNvSpPr txBox="true"/>
          <p:nvPr/>
        </p:nvSpPr>
        <p:spPr>
          <a:xfrm rot="0">
            <a:off x="454204" y="8353378"/>
            <a:ext cx="14631714" cy="1743867"/>
          </a:xfrm>
          <a:prstGeom prst="rect">
            <a:avLst/>
          </a:prstGeom>
        </p:spPr>
        <p:txBody>
          <a:bodyPr anchor="t" rtlCol="false" tIns="0" lIns="0" bIns="0" rIns="0">
            <a:spAutoFit/>
          </a:bodyPr>
          <a:lstStyle/>
          <a:p>
            <a:pPr algn="l">
              <a:lnSpc>
                <a:spcPts val="4681"/>
              </a:lnSpc>
              <a:spcBef>
                <a:spcPct val="0"/>
              </a:spcBef>
            </a:pPr>
            <a:r>
              <a:rPr lang="en-US" sz="3343">
                <a:solidFill>
                  <a:srgbClr val="002B58"/>
                </a:solidFill>
                <a:latin typeface="Monda"/>
                <a:ea typeface="Monda"/>
                <a:cs typeface="Monda"/>
                <a:sym typeface="Monda"/>
              </a:rPr>
              <a:t>"OTHER" GENDER CATEGORY SHOWS A DISTINCT PREFERENCE FOR ELECTRONICS AND TOYS COMPARED TO FEMALE AND MALE CONSUMERS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599895"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801239" y="-1729391"/>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1947"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34259" y="-76200"/>
            <a:ext cx="12327891" cy="2066566"/>
          </a:xfrm>
          <a:prstGeom prst="rect">
            <a:avLst/>
          </a:prstGeom>
        </p:spPr>
        <p:txBody>
          <a:bodyPr anchor="t" rtlCol="false" tIns="0" lIns="0" bIns="0" rIns="0">
            <a:spAutoFit/>
          </a:bodyPr>
          <a:lstStyle/>
          <a:p>
            <a:pPr algn="ctr">
              <a:lnSpc>
                <a:spcPts val="5521"/>
              </a:lnSpc>
            </a:pPr>
            <a:r>
              <a:rPr lang="en-US" b="true" sz="3943">
                <a:solidFill>
                  <a:srgbClr val="002B58"/>
                </a:solidFill>
                <a:latin typeface="Monda Bold"/>
                <a:ea typeface="Monda Bold"/>
                <a:cs typeface="Monda Bold"/>
                <a:sym typeface="Monda Bold"/>
              </a:rPr>
              <a:t>TASK 14: TOP 5 PRODUCT CATEGORIES BY MONTHLY SALES TREND</a:t>
            </a:r>
          </a:p>
          <a:p>
            <a:pPr algn="ctr">
              <a:lnSpc>
                <a:spcPts val="5521"/>
              </a:lnSpc>
            </a:pPr>
          </a:p>
        </p:txBody>
      </p:sp>
      <p:sp>
        <p:nvSpPr>
          <p:cNvPr name="Freeform 7" id="7"/>
          <p:cNvSpPr/>
          <p:nvPr/>
        </p:nvSpPr>
        <p:spPr>
          <a:xfrm flipH="false" flipV="false" rot="0">
            <a:off x="16295" y="7439695"/>
            <a:ext cx="437910" cy="485416"/>
          </a:xfrm>
          <a:custGeom>
            <a:avLst/>
            <a:gdLst/>
            <a:ahLst/>
            <a:cxnLst/>
            <a:rect r="r" b="b" t="t" l="l"/>
            <a:pathLst>
              <a:path h="485416" w="437910">
                <a:moveTo>
                  <a:pt x="0" y="0"/>
                </a:moveTo>
                <a:lnTo>
                  <a:pt x="437909" y="0"/>
                </a:lnTo>
                <a:lnTo>
                  <a:pt x="437909" y="485416"/>
                </a:lnTo>
                <a:lnTo>
                  <a:pt x="0" y="4854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8" id="8"/>
          <p:cNvGraphicFramePr/>
          <p:nvPr/>
        </p:nvGraphicFramePr>
        <p:xfrm>
          <a:off x="1028700" y="1532264"/>
          <a:ext cx="7543800" cy="2933700"/>
        </p:xfrm>
        <a:graphic>
          <a:graphicData uri="http://schemas.openxmlformats.org/presentationml/2006/ole">
            <p:oleObj imgW="9042400" imgH="44323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8740333" y="1532264"/>
            <a:ext cx="9267663" cy="5644962"/>
          </a:xfrm>
          <a:custGeom>
            <a:avLst/>
            <a:gdLst/>
            <a:ahLst/>
            <a:cxnLst/>
            <a:rect r="r" b="b" t="t" l="l"/>
            <a:pathLst>
              <a:path h="5644962" w="9267663">
                <a:moveTo>
                  <a:pt x="0" y="0"/>
                </a:moveTo>
                <a:lnTo>
                  <a:pt x="9267662" y="0"/>
                </a:lnTo>
                <a:lnTo>
                  <a:pt x="9267662" y="5644962"/>
                </a:lnTo>
                <a:lnTo>
                  <a:pt x="0" y="5644962"/>
                </a:lnTo>
                <a:lnTo>
                  <a:pt x="0" y="0"/>
                </a:lnTo>
                <a:close/>
              </a:path>
            </a:pathLst>
          </a:custGeom>
          <a:blipFill>
            <a:blip r:embed="rId10"/>
            <a:stretch>
              <a:fillRect l="0" t="0" r="0" b="0"/>
            </a:stretch>
          </a:blipFill>
        </p:spPr>
      </p:sp>
      <p:sp>
        <p:nvSpPr>
          <p:cNvPr name="TextBox 10" id="10"/>
          <p:cNvSpPr txBox="true"/>
          <p:nvPr/>
        </p:nvSpPr>
        <p:spPr>
          <a:xfrm rot="0">
            <a:off x="654454" y="7354996"/>
            <a:ext cx="16604846" cy="1083080"/>
          </a:xfrm>
          <a:prstGeom prst="rect">
            <a:avLst/>
          </a:prstGeom>
        </p:spPr>
        <p:txBody>
          <a:bodyPr anchor="t" rtlCol="false" tIns="0" lIns="0" bIns="0" rIns="0">
            <a:spAutoFit/>
          </a:bodyPr>
          <a:lstStyle/>
          <a:p>
            <a:pPr algn="just">
              <a:lnSpc>
                <a:spcPts val="4352"/>
              </a:lnSpc>
            </a:pPr>
            <a:r>
              <a:rPr lang="en-US" b="true" sz="3109">
                <a:solidFill>
                  <a:srgbClr val="002B58"/>
                </a:solidFill>
                <a:latin typeface="Monda Bold"/>
                <a:ea typeface="Monda Bold"/>
                <a:cs typeface="Monda Bold"/>
                <a:sym typeface="Monda Bold"/>
              </a:rPr>
              <a:t>INSIGHTS;</a:t>
            </a:r>
          </a:p>
          <a:p>
            <a:pPr algn="just">
              <a:lnSpc>
                <a:spcPts val="4352"/>
              </a:lnSpc>
              <a:spcBef>
                <a:spcPct val="0"/>
              </a:spcBef>
            </a:pPr>
          </a:p>
        </p:txBody>
      </p:sp>
      <p:sp>
        <p:nvSpPr>
          <p:cNvPr name="TextBox 11" id="11"/>
          <p:cNvSpPr txBox="true"/>
          <p:nvPr/>
        </p:nvSpPr>
        <p:spPr>
          <a:xfrm rot="0">
            <a:off x="683764" y="7858436"/>
            <a:ext cx="16920471" cy="2270282"/>
          </a:xfrm>
          <a:prstGeom prst="rect">
            <a:avLst/>
          </a:prstGeom>
        </p:spPr>
        <p:txBody>
          <a:bodyPr anchor="t" rtlCol="false" tIns="0" lIns="0" bIns="0" rIns="0">
            <a:spAutoFit/>
          </a:bodyPr>
          <a:lstStyle/>
          <a:p>
            <a:pPr algn="l">
              <a:lnSpc>
                <a:spcPts val="4541"/>
              </a:lnSpc>
              <a:spcBef>
                <a:spcPct val="0"/>
              </a:spcBef>
            </a:pPr>
            <a:r>
              <a:rPr lang="en-US" sz="3243">
                <a:solidFill>
                  <a:srgbClr val="002B58"/>
                </a:solidFill>
                <a:latin typeface="Monda"/>
                <a:ea typeface="Monda"/>
                <a:cs typeface="Monda"/>
                <a:sym typeface="Monda"/>
              </a:rPr>
              <a:t>OVER THE YEARS, FASHION CONSISTENTLY LEADS IN MONTHLY SALES, FOLLOWED BY ELECTRONICS, HOME &amp; KITCHEN, BOOKS, AND TOYS, WITH PEAK SALES SEEN DURING MID-YEAR AND FESTIVE MONTHS, REVEALING STRONG SEASONAL SHOPPING TRENDS.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599895"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801239" y="-1729391"/>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1947"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34259" y="-76200"/>
            <a:ext cx="12327891" cy="2066566"/>
          </a:xfrm>
          <a:prstGeom prst="rect">
            <a:avLst/>
          </a:prstGeom>
        </p:spPr>
        <p:txBody>
          <a:bodyPr anchor="t" rtlCol="false" tIns="0" lIns="0" bIns="0" rIns="0">
            <a:spAutoFit/>
          </a:bodyPr>
          <a:lstStyle/>
          <a:p>
            <a:pPr algn="ctr">
              <a:lnSpc>
                <a:spcPts val="5521"/>
              </a:lnSpc>
            </a:pPr>
            <a:r>
              <a:rPr lang="en-US" b="true" sz="3943">
                <a:solidFill>
                  <a:srgbClr val="002B58"/>
                </a:solidFill>
                <a:latin typeface="Monda Bold"/>
                <a:ea typeface="Monda Bold"/>
                <a:cs typeface="Monda Bold"/>
                <a:sym typeface="Monda Bold"/>
              </a:rPr>
              <a:t>TASK 15: MONTHLY REGION-WISE REVENUE TRENDS</a:t>
            </a:r>
          </a:p>
          <a:p>
            <a:pPr algn="ctr">
              <a:lnSpc>
                <a:spcPts val="5521"/>
              </a:lnSpc>
            </a:pPr>
          </a:p>
        </p:txBody>
      </p:sp>
      <p:sp>
        <p:nvSpPr>
          <p:cNvPr name="Freeform 7" id="7"/>
          <p:cNvSpPr/>
          <p:nvPr/>
        </p:nvSpPr>
        <p:spPr>
          <a:xfrm flipH="false" flipV="false" rot="0">
            <a:off x="0" y="7384598"/>
            <a:ext cx="437910" cy="485416"/>
          </a:xfrm>
          <a:custGeom>
            <a:avLst/>
            <a:gdLst/>
            <a:ahLst/>
            <a:cxnLst/>
            <a:rect r="r" b="b" t="t" l="l"/>
            <a:pathLst>
              <a:path h="485416" w="437910">
                <a:moveTo>
                  <a:pt x="0" y="0"/>
                </a:moveTo>
                <a:lnTo>
                  <a:pt x="437910" y="0"/>
                </a:lnTo>
                <a:lnTo>
                  <a:pt x="437910" y="485417"/>
                </a:lnTo>
                <a:lnTo>
                  <a:pt x="0" y="4854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8" id="8"/>
          <p:cNvGraphicFramePr/>
          <p:nvPr/>
        </p:nvGraphicFramePr>
        <p:xfrm>
          <a:off x="1846364" y="1245074"/>
          <a:ext cx="5029200" cy="5867400"/>
        </p:xfrm>
        <a:graphic>
          <a:graphicData uri="http://schemas.openxmlformats.org/presentationml/2006/ole">
            <p:oleObj imgW="6197600" imgH="70358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7993894" y="1245074"/>
            <a:ext cx="9581032" cy="5611202"/>
          </a:xfrm>
          <a:custGeom>
            <a:avLst/>
            <a:gdLst/>
            <a:ahLst/>
            <a:cxnLst/>
            <a:rect r="r" b="b" t="t" l="l"/>
            <a:pathLst>
              <a:path h="5611202" w="9581032">
                <a:moveTo>
                  <a:pt x="0" y="0"/>
                </a:moveTo>
                <a:lnTo>
                  <a:pt x="9581031" y="0"/>
                </a:lnTo>
                <a:lnTo>
                  <a:pt x="9581031" y="5611202"/>
                </a:lnTo>
                <a:lnTo>
                  <a:pt x="0" y="5611202"/>
                </a:lnTo>
                <a:lnTo>
                  <a:pt x="0" y="0"/>
                </a:lnTo>
                <a:close/>
              </a:path>
            </a:pathLst>
          </a:custGeom>
          <a:blipFill>
            <a:blip r:embed="rId10"/>
            <a:stretch>
              <a:fillRect l="0" t="0" r="0" b="0"/>
            </a:stretch>
          </a:blipFill>
        </p:spPr>
      </p:sp>
      <p:sp>
        <p:nvSpPr>
          <p:cNvPr name="TextBox 10" id="10"/>
          <p:cNvSpPr txBox="true"/>
          <p:nvPr/>
        </p:nvSpPr>
        <p:spPr>
          <a:xfrm rot="0">
            <a:off x="654454" y="7327448"/>
            <a:ext cx="16604846" cy="1083080"/>
          </a:xfrm>
          <a:prstGeom prst="rect">
            <a:avLst/>
          </a:prstGeom>
        </p:spPr>
        <p:txBody>
          <a:bodyPr anchor="t" rtlCol="false" tIns="0" lIns="0" bIns="0" rIns="0">
            <a:spAutoFit/>
          </a:bodyPr>
          <a:lstStyle/>
          <a:p>
            <a:pPr algn="just">
              <a:lnSpc>
                <a:spcPts val="4352"/>
              </a:lnSpc>
            </a:pPr>
            <a:r>
              <a:rPr lang="en-US" b="true" sz="3109">
                <a:solidFill>
                  <a:srgbClr val="002B58"/>
                </a:solidFill>
                <a:latin typeface="Monda Bold"/>
                <a:ea typeface="Monda Bold"/>
                <a:cs typeface="Monda Bold"/>
                <a:sym typeface="Monda Bold"/>
              </a:rPr>
              <a:t>INSIGHTS;</a:t>
            </a:r>
          </a:p>
          <a:p>
            <a:pPr algn="just">
              <a:lnSpc>
                <a:spcPts val="4352"/>
              </a:lnSpc>
              <a:spcBef>
                <a:spcPct val="0"/>
              </a:spcBef>
            </a:pPr>
          </a:p>
        </p:txBody>
      </p:sp>
      <p:sp>
        <p:nvSpPr>
          <p:cNvPr name="TextBox 11" id="11"/>
          <p:cNvSpPr txBox="true"/>
          <p:nvPr/>
        </p:nvSpPr>
        <p:spPr>
          <a:xfrm rot="0">
            <a:off x="654454" y="7830888"/>
            <a:ext cx="17220235" cy="2196622"/>
          </a:xfrm>
          <a:prstGeom prst="rect">
            <a:avLst/>
          </a:prstGeom>
        </p:spPr>
        <p:txBody>
          <a:bodyPr anchor="t" rtlCol="false" tIns="0" lIns="0" bIns="0" rIns="0">
            <a:spAutoFit/>
          </a:bodyPr>
          <a:lstStyle/>
          <a:p>
            <a:pPr algn="l">
              <a:lnSpc>
                <a:spcPts val="4401"/>
              </a:lnSpc>
              <a:spcBef>
                <a:spcPct val="0"/>
              </a:spcBef>
            </a:pPr>
            <a:r>
              <a:rPr lang="en-US" sz="3143">
                <a:solidFill>
                  <a:srgbClr val="002B58"/>
                </a:solidFill>
                <a:latin typeface="Monda"/>
                <a:ea typeface="Monda"/>
                <a:cs typeface="Monda"/>
                <a:sym typeface="Monda"/>
              </a:rPr>
              <a:t>THE EAST REGION CONSISTENTLY LEADS IN MONTHLY REVENUE, ESPECIALLY IN Q1 AND Q4, WHILE SOUTH AND WEST SHOW STABLE BUT FLUCTUATING PERFORMANCE, AND NORTH MAINTAINS MODERATE SALES WITH OCCASIONAL PEAKS—HIGHLIGHTING EAST AS THE MOST DOMINANT MARKET THROUGHOUT THE YEAR.</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599895"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801239" y="-1729391"/>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1947"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6723112"/>
            <a:ext cx="437910" cy="485416"/>
          </a:xfrm>
          <a:custGeom>
            <a:avLst/>
            <a:gdLst/>
            <a:ahLst/>
            <a:cxnLst/>
            <a:rect r="r" b="b" t="t" l="l"/>
            <a:pathLst>
              <a:path h="485416" w="437910">
                <a:moveTo>
                  <a:pt x="0" y="0"/>
                </a:moveTo>
                <a:lnTo>
                  <a:pt x="437910" y="0"/>
                </a:lnTo>
                <a:lnTo>
                  <a:pt x="437910" y="485417"/>
                </a:lnTo>
                <a:lnTo>
                  <a:pt x="0" y="4854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7" id="7"/>
          <p:cNvGraphicFramePr/>
          <p:nvPr/>
        </p:nvGraphicFramePr>
        <p:xfrm>
          <a:off x="1028700" y="1245074"/>
          <a:ext cx="2514600" cy="4610100"/>
        </p:xfrm>
        <a:graphic>
          <a:graphicData uri="http://schemas.openxmlformats.org/presentationml/2006/ole">
            <p:oleObj imgW="3429000" imgH="55245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Freeform 8" id="8"/>
          <p:cNvSpPr/>
          <p:nvPr/>
        </p:nvSpPr>
        <p:spPr>
          <a:xfrm flipH="false" flipV="false" rot="0">
            <a:off x="8186668" y="1245074"/>
            <a:ext cx="9388257" cy="5038760"/>
          </a:xfrm>
          <a:custGeom>
            <a:avLst/>
            <a:gdLst/>
            <a:ahLst/>
            <a:cxnLst/>
            <a:rect r="r" b="b" t="t" l="l"/>
            <a:pathLst>
              <a:path h="5038760" w="9388257">
                <a:moveTo>
                  <a:pt x="0" y="0"/>
                </a:moveTo>
                <a:lnTo>
                  <a:pt x="9388257" y="0"/>
                </a:lnTo>
                <a:lnTo>
                  <a:pt x="9388257" y="5038760"/>
                </a:lnTo>
                <a:lnTo>
                  <a:pt x="0" y="5038760"/>
                </a:lnTo>
                <a:lnTo>
                  <a:pt x="0" y="0"/>
                </a:lnTo>
                <a:close/>
              </a:path>
            </a:pathLst>
          </a:custGeom>
          <a:blipFill>
            <a:blip r:embed="rId10"/>
            <a:stretch>
              <a:fillRect l="0" t="0" r="0" b="-11792"/>
            </a:stretch>
          </a:blipFill>
        </p:spPr>
      </p:sp>
      <p:sp>
        <p:nvSpPr>
          <p:cNvPr name="TextBox 9" id="9"/>
          <p:cNvSpPr txBox="true"/>
          <p:nvPr/>
        </p:nvSpPr>
        <p:spPr>
          <a:xfrm rot="0">
            <a:off x="3434259" y="-76200"/>
            <a:ext cx="12327891" cy="1369720"/>
          </a:xfrm>
          <a:prstGeom prst="rect">
            <a:avLst/>
          </a:prstGeom>
        </p:spPr>
        <p:txBody>
          <a:bodyPr anchor="t" rtlCol="false" tIns="0" lIns="0" bIns="0" rIns="0">
            <a:spAutoFit/>
          </a:bodyPr>
          <a:lstStyle/>
          <a:p>
            <a:pPr algn="ctr">
              <a:lnSpc>
                <a:spcPts val="5521"/>
              </a:lnSpc>
            </a:pPr>
            <a:r>
              <a:rPr lang="en-US" b="true" sz="3943">
                <a:solidFill>
                  <a:srgbClr val="002B58"/>
                </a:solidFill>
                <a:latin typeface="Monda Bold"/>
                <a:ea typeface="Monda Bold"/>
                <a:cs typeface="Monda Bold"/>
                <a:sym typeface="Monda Bold"/>
              </a:rPr>
              <a:t>TASK 16: HIGH-VALUE CUSTOMERS</a:t>
            </a:r>
          </a:p>
          <a:p>
            <a:pPr algn="ctr">
              <a:lnSpc>
                <a:spcPts val="5521"/>
              </a:lnSpc>
            </a:pPr>
          </a:p>
        </p:txBody>
      </p:sp>
      <p:sp>
        <p:nvSpPr>
          <p:cNvPr name="TextBox 10" id="10"/>
          <p:cNvSpPr txBox="true"/>
          <p:nvPr/>
        </p:nvSpPr>
        <p:spPr>
          <a:xfrm rot="0">
            <a:off x="654454" y="6638414"/>
            <a:ext cx="16604846" cy="1083080"/>
          </a:xfrm>
          <a:prstGeom prst="rect">
            <a:avLst/>
          </a:prstGeom>
        </p:spPr>
        <p:txBody>
          <a:bodyPr anchor="t" rtlCol="false" tIns="0" lIns="0" bIns="0" rIns="0">
            <a:spAutoFit/>
          </a:bodyPr>
          <a:lstStyle/>
          <a:p>
            <a:pPr algn="just">
              <a:lnSpc>
                <a:spcPts val="4352"/>
              </a:lnSpc>
            </a:pPr>
            <a:r>
              <a:rPr lang="en-US" b="true" sz="3109">
                <a:solidFill>
                  <a:srgbClr val="002B58"/>
                </a:solidFill>
                <a:latin typeface="Monda Bold"/>
                <a:ea typeface="Monda Bold"/>
                <a:cs typeface="Monda Bold"/>
                <a:sym typeface="Monda Bold"/>
              </a:rPr>
              <a:t>INSIGHTS;</a:t>
            </a:r>
          </a:p>
          <a:p>
            <a:pPr algn="just">
              <a:lnSpc>
                <a:spcPts val="4352"/>
              </a:lnSpc>
              <a:spcBef>
                <a:spcPct val="0"/>
              </a:spcBef>
            </a:pPr>
          </a:p>
        </p:txBody>
      </p:sp>
      <p:sp>
        <p:nvSpPr>
          <p:cNvPr name="TextBox 11" id="11"/>
          <p:cNvSpPr txBox="true"/>
          <p:nvPr/>
        </p:nvSpPr>
        <p:spPr>
          <a:xfrm rot="0">
            <a:off x="654454" y="7385554"/>
            <a:ext cx="17633546" cy="1153317"/>
          </a:xfrm>
          <a:prstGeom prst="rect">
            <a:avLst/>
          </a:prstGeom>
        </p:spPr>
        <p:txBody>
          <a:bodyPr anchor="t" rtlCol="false" tIns="0" lIns="0" bIns="0" rIns="0">
            <a:spAutoFit/>
          </a:bodyPr>
          <a:lstStyle/>
          <a:p>
            <a:pPr algn="l">
              <a:lnSpc>
                <a:spcPts val="4681"/>
              </a:lnSpc>
              <a:spcBef>
                <a:spcPct val="0"/>
              </a:spcBef>
            </a:pPr>
            <a:r>
              <a:rPr lang="en-US" sz="3343">
                <a:solidFill>
                  <a:srgbClr val="002B58"/>
                </a:solidFill>
                <a:latin typeface="Monda"/>
                <a:ea typeface="Monda"/>
                <a:cs typeface="Monda"/>
                <a:sym typeface="Monda"/>
              </a:rPr>
              <a:t> CUSTOMER 63464563 STANDS OUT AS THE HIGHEST-VALUE SPENDER, WHILE OTHERS CLUSTER CLOSELY IN SPEND RANGE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599895"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801239" y="-1729391"/>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1947"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34259" y="-76200"/>
            <a:ext cx="12327891" cy="1369720"/>
          </a:xfrm>
          <a:prstGeom prst="rect">
            <a:avLst/>
          </a:prstGeom>
        </p:spPr>
        <p:txBody>
          <a:bodyPr anchor="t" rtlCol="false" tIns="0" lIns="0" bIns="0" rIns="0">
            <a:spAutoFit/>
          </a:bodyPr>
          <a:lstStyle/>
          <a:p>
            <a:pPr algn="ctr">
              <a:lnSpc>
                <a:spcPts val="5521"/>
              </a:lnSpc>
            </a:pPr>
            <a:r>
              <a:rPr lang="en-US" b="true" sz="3943">
                <a:solidFill>
                  <a:srgbClr val="002B58"/>
                </a:solidFill>
                <a:latin typeface="Monda Bold"/>
                <a:ea typeface="Monda Bold"/>
                <a:cs typeface="Monda Bold"/>
                <a:sym typeface="Monda Bold"/>
              </a:rPr>
              <a:t>TASK 17: PRODUCT BUYING REAPET CUSTOMERS PERCENTAGE  ANALYSIS</a:t>
            </a:r>
          </a:p>
        </p:txBody>
      </p:sp>
      <p:sp>
        <p:nvSpPr>
          <p:cNvPr name="Freeform 7" id="7"/>
          <p:cNvSpPr/>
          <p:nvPr/>
        </p:nvSpPr>
        <p:spPr>
          <a:xfrm flipH="false" flipV="false" rot="0">
            <a:off x="0" y="7925111"/>
            <a:ext cx="437910" cy="485416"/>
          </a:xfrm>
          <a:custGeom>
            <a:avLst/>
            <a:gdLst/>
            <a:ahLst/>
            <a:cxnLst/>
            <a:rect r="r" b="b" t="t" l="l"/>
            <a:pathLst>
              <a:path h="485416" w="437910">
                <a:moveTo>
                  <a:pt x="0" y="0"/>
                </a:moveTo>
                <a:lnTo>
                  <a:pt x="437910" y="0"/>
                </a:lnTo>
                <a:lnTo>
                  <a:pt x="437910" y="485417"/>
                </a:lnTo>
                <a:lnTo>
                  <a:pt x="0" y="4854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437910" y="7867961"/>
            <a:ext cx="16604846" cy="1083080"/>
          </a:xfrm>
          <a:prstGeom prst="rect">
            <a:avLst/>
          </a:prstGeom>
        </p:spPr>
        <p:txBody>
          <a:bodyPr anchor="t" rtlCol="false" tIns="0" lIns="0" bIns="0" rIns="0">
            <a:spAutoFit/>
          </a:bodyPr>
          <a:lstStyle/>
          <a:p>
            <a:pPr algn="just">
              <a:lnSpc>
                <a:spcPts val="4352"/>
              </a:lnSpc>
            </a:pPr>
            <a:r>
              <a:rPr lang="en-US" b="true" sz="3109">
                <a:solidFill>
                  <a:srgbClr val="002B58"/>
                </a:solidFill>
                <a:latin typeface="Monda Bold"/>
                <a:ea typeface="Monda Bold"/>
                <a:cs typeface="Monda Bold"/>
                <a:sym typeface="Monda Bold"/>
              </a:rPr>
              <a:t>INSIGHTS;</a:t>
            </a:r>
          </a:p>
          <a:p>
            <a:pPr algn="just">
              <a:lnSpc>
                <a:spcPts val="4352"/>
              </a:lnSpc>
              <a:spcBef>
                <a:spcPct val="0"/>
              </a:spcBef>
            </a:pPr>
          </a:p>
        </p:txBody>
      </p:sp>
      <p:graphicFrame>
        <p:nvGraphicFramePr>
          <p:cNvPr name="Object 9" id="9"/>
          <p:cNvGraphicFramePr/>
          <p:nvPr/>
        </p:nvGraphicFramePr>
        <p:xfrm>
          <a:off x="2527871" y="1245074"/>
          <a:ext cx="2552700" cy="7543800"/>
        </p:xfrm>
        <a:graphic>
          <a:graphicData uri="http://schemas.openxmlformats.org/presentationml/2006/ole">
            <p:oleObj imgW="4051300" imgH="90424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10" id="10"/>
          <p:cNvSpPr txBox="true"/>
          <p:nvPr/>
        </p:nvSpPr>
        <p:spPr>
          <a:xfrm rot="0">
            <a:off x="454204" y="8380926"/>
            <a:ext cx="17833796" cy="1153317"/>
          </a:xfrm>
          <a:prstGeom prst="rect">
            <a:avLst/>
          </a:prstGeom>
        </p:spPr>
        <p:txBody>
          <a:bodyPr anchor="t" rtlCol="false" tIns="0" lIns="0" bIns="0" rIns="0">
            <a:spAutoFit/>
          </a:bodyPr>
          <a:lstStyle/>
          <a:p>
            <a:pPr algn="l">
              <a:lnSpc>
                <a:spcPts val="4681"/>
              </a:lnSpc>
              <a:spcBef>
                <a:spcPct val="0"/>
              </a:spcBef>
            </a:pPr>
            <a:r>
              <a:rPr lang="en-US" sz="3343">
                <a:solidFill>
                  <a:srgbClr val="002B58"/>
                </a:solidFill>
                <a:latin typeface="Monda"/>
                <a:ea typeface="Monda"/>
                <a:cs typeface="Monda"/>
                <a:sym typeface="Monda"/>
              </a:rPr>
              <a:t>AMONG 4,532 CUSTOMERS, 477 (11%) ARE REPEAT BUYERS, EACH PURCHASING 10 PRODUCTS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599895"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801239" y="-1729391"/>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1947"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7925111"/>
            <a:ext cx="437910" cy="485416"/>
          </a:xfrm>
          <a:custGeom>
            <a:avLst/>
            <a:gdLst/>
            <a:ahLst/>
            <a:cxnLst/>
            <a:rect r="r" b="b" t="t" l="l"/>
            <a:pathLst>
              <a:path h="485416" w="437910">
                <a:moveTo>
                  <a:pt x="0" y="0"/>
                </a:moveTo>
                <a:lnTo>
                  <a:pt x="437910" y="0"/>
                </a:lnTo>
                <a:lnTo>
                  <a:pt x="437910" y="485417"/>
                </a:lnTo>
                <a:lnTo>
                  <a:pt x="0" y="4854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7" id="7"/>
          <p:cNvGraphicFramePr/>
          <p:nvPr/>
        </p:nvGraphicFramePr>
        <p:xfrm>
          <a:off x="1028700" y="1407886"/>
          <a:ext cx="2514600" cy="3352800"/>
        </p:xfrm>
        <a:graphic>
          <a:graphicData uri="http://schemas.openxmlformats.org/presentationml/2006/ole">
            <p:oleObj imgW="3175000" imgH="40132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Freeform 8" id="8"/>
          <p:cNvSpPr/>
          <p:nvPr/>
        </p:nvSpPr>
        <p:spPr>
          <a:xfrm flipH="false" flipV="false" rot="0">
            <a:off x="8131297" y="1407886"/>
            <a:ext cx="9443629" cy="5623309"/>
          </a:xfrm>
          <a:custGeom>
            <a:avLst/>
            <a:gdLst/>
            <a:ahLst/>
            <a:cxnLst/>
            <a:rect r="r" b="b" t="t" l="l"/>
            <a:pathLst>
              <a:path h="5623309" w="9443629">
                <a:moveTo>
                  <a:pt x="0" y="0"/>
                </a:moveTo>
                <a:lnTo>
                  <a:pt x="9443628" y="0"/>
                </a:lnTo>
                <a:lnTo>
                  <a:pt x="9443628" y="5623308"/>
                </a:lnTo>
                <a:lnTo>
                  <a:pt x="0" y="5623308"/>
                </a:lnTo>
                <a:lnTo>
                  <a:pt x="0" y="0"/>
                </a:lnTo>
                <a:close/>
              </a:path>
            </a:pathLst>
          </a:custGeom>
          <a:blipFill>
            <a:blip r:embed="rId10"/>
            <a:stretch>
              <a:fillRect l="0" t="0" r="0" b="0"/>
            </a:stretch>
          </a:blipFill>
        </p:spPr>
      </p:sp>
      <p:sp>
        <p:nvSpPr>
          <p:cNvPr name="TextBox 9" id="9"/>
          <p:cNvSpPr txBox="true"/>
          <p:nvPr/>
        </p:nvSpPr>
        <p:spPr>
          <a:xfrm rot="0">
            <a:off x="2980054" y="-76200"/>
            <a:ext cx="12327891" cy="1369720"/>
          </a:xfrm>
          <a:prstGeom prst="rect">
            <a:avLst/>
          </a:prstGeom>
        </p:spPr>
        <p:txBody>
          <a:bodyPr anchor="t" rtlCol="false" tIns="0" lIns="0" bIns="0" rIns="0">
            <a:spAutoFit/>
          </a:bodyPr>
          <a:lstStyle/>
          <a:p>
            <a:pPr algn="ctr">
              <a:lnSpc>
                <a:spcPts val="5521"/>
              </a:lnSpc>
            </a:pPr>
            <a:r>
              <a:rPr lang="en-US" b="true" sz="3943">
                <a:solidFill>
                  <a:srgbClr val="002B58"/>
                </a:solidFill>
                <a:latin typeface="Monda Bold"/>
                <a:ea typeface="Monda Bold"/>
                <a:cs typeface="Monda Bold"/>
                <a:sym typeface="Monda Bold"/>
              </a:rPr>
              <a:t>TASK 18: ARE OLDER OR YOUNGER CUSTOMERS SPENDING MORE</a:t>
            </a:r>
          </a:p>
        </p:txBody>
      </p:sp>
      <p:sp>
        <p:nvSpPr>
          <p:cNvPr name="TextBox 10" id="10"/>
          <p:cNvSpPr txBox="true"/>
          <p:nvPr/>
        </p:nvSpPr>
        <p:spPr>
          <a:xfrm rot="0">
            <a:off x="437910" y="7867961"/>
            <a:ext cx="16604846" cy="1083080"/>
          </a:xfrm>
          <a:prstGeom prst="rect">
            <a:avLst/>
          </a:prstGeom>
        </p:spPr>
        <p:txBody>
          <a:bodyPr anchor="t" rtlCol="false" tIns="0" lIns="0" bIns="0" rIns="0">
            <a:spAutoFit/>
          </a:bodyPr>
          <a:lstStyle/>
          <a:p>
            <a:pPr algn="just">
              <a:lnSpc>
                <a:spcPts val="4352"/>
              </a:lnSpc>
            </a:pPr>
            <a:r>
              <a:rPr lang="en-US" b="true" sz="3109">
                <a:solidFill>
                  <a:srgbClr val="002B58"/>
                </a:solidFill>
                <a:latin typeface="Monda Bold"/>
                <a:ea typeface="Monda Bold"/>
                <a:cs typeface="Monda Bold"/>
                <a:sym typeface="Monda Bold"/>
              </a:rPr>
              <a:t>INSIGHTS;</a:t>
            </a:r>
          </a:p>
          <a:p>
            <a:pPr algn="just">
              <a:lnSpc>
                <a:spcPts val="4352"/>
              </a:lnSpc>
              <a:spcBef>
                <a:spcPct val="0"/>
              </a:spcBef>
            </a:pPr>
          </a:p>
        </p:txBody>
      </p:sp>
      <p:sp>
        <p:nvSpPr>
          <p:cNvPr name="TextBox 11" id="11"/>
          <p:cNvSpPr txBox="true"/>
          <p:nvPr/>
        </p:nvSpPr>
        <p:spPr>
          <a:xfrm rot="0">
            <a:off x="808913" y="8653066"/>
            <a:ext cx="18288000" cy="1153317"/>
          </a:xfrm>
          <a:prstGeom prst="rect">
            <a:avLst/>
          </a:prstGeom>
        </p:spPr>
        <p:txBody>
          <a:bodyPr anchor="t" rtlCol="false" tIns="0" lIns="0" bIns="0" rIns="0">
            <a:spAutoFit/>
          </a:bodyPr>
          <a:lstStyle/>
          <a:p>
            <a:pPr algn="l">
              <a:lnSpc>
                <a:spcPts val="4681"/>
              </a:lnSpc>
              <a:spcBef>
                <a:spcPct val="0"/>
              </a:spcBef>
            </a:pPr>
            <a:r>
              <a:rPr lang="en-US" sz="3343">
                <a:solidFill>
                  <a:srgbClr val="002B58"/>
                </a:solidFill>
                <a:latin typeface="Monda"/>
                <a:ea typeface="Monda"/>
                <a:cs typeface="Monda"/>
                <a:sym typeface="Monda"/>
              </a:rPr>
              <a:t>OLDER CUSTOMERS, ESPECIALLY THOSE AGED 60–70, SPEND THE MOST, WHILE YOUNGER CUSTOMERS AGED 10–19 SPEND THE LEAST.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064015" y="6915339"/>
            <a:ext cx="9295205" cy="5948931"/>
          </a:xfrm>
          <a:custGeom>
            <a:avLst/>
            <a:gdLst/>
            <a:ahLst/>
            <a:cxnLst/>
            <a:rect r="r" b="b" t="t" l="l"/>
            <a:pathLst>
              <a:path h="5948931" w="9295205">
                <a:moveTo>
                  <a:pt x="9295205" y="0"/>
                </a:moveTo>
                <a:lnTo>
                  <a:pt x="0" y="0"/>
                </a:lnTo>
                <a:lnTo>
                  <a:pt x="0" y="5948931"/>
                </a:lnTo>
                <a:lnTo>
                  <a:pt x="9295205" y="5948931"/>
                </a:lnTo>
                <a:lnTo>
                  <a:pt x="92952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574744" y="-1729391"/>
            <a:ext cx="9295205" cy="5948931"/>
          </a:xfrm>
          <a:custGeom>
            <a:avLst/>
            <a:gdLst/>
            <a:ahLst/>
            <a:cxnLst/>
            <a:rect r="r" b="b" t="t" l="l"/>
            <a:pathLst>
              <a:path h="5948931" w="9295205">
                <a:moveTo>
                  <a:pt x="0" y="5948931"/>
                </a:moveTo>
                <a:lnTo>
                  <a:pt x="9295206" y="5948931"/>
                </a:lnTo>
                <a:lnTo>
                  <a:pt x="9295206" y="0"/>
                </a:lnTo>
                <a:lnTo>
                  <a:pt x="0" y="0"/>
                </a:lnTo>
                <a:lnTo>
                  <a:pt x="0" y="594893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1947"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80054" y="-76200"/>
            <a:ext cx="12327891" cy="672874"/>
          </a:xfrm>
          <a:prstGeom prst="rect">
            <a:avLst/>
          </a:prstGeom>
        </p:spPr>
        <p:txBody>
          <a:bodyPr anchor="t" rtlCol="false" tIns="0" lIns="0" bIns="0" rIns="0">
            <a:spAutoFit/>
          </a:bodyPr>
          <a:lstStyle/>
          <a:p>
            <a:pPr algn="ctr">
              <a:lnSpc>
                <a:spcPts val="5521"/>
              </a:lnSpc>
            </a:pPr>
            <a:r>
              <a:rPr lang="en-US" b="true" sz="3943">
                <a:solidFill>
                  <a:srgbClr val="002B58"/>
                </a:solidFill>
                <a:latin typeface="Monda Bold"/>
                <a:ea typeface="Monda Bold"/>
                <a:cs typeface="Monda Bold"/>
                <a:sym typeface="Monda Bold"/>
              </a:rPr>
              <a:t> METHODOLOGY</a:t>
            </a:r>
          </a:p>
        </p:txBody>
      </p:sp>
      <p:sp>
        <p:nvSpPr>
          <p:cNvPr name="TextBox 7" id="7"/>
          <p:cNvSpPr txBox="true"/>
          <p:nvPr/>
        </p:nvSpPr>
        <p:spPr>
          <a:xfrm rot="0">
            <a:off x="816179" y="871298"/>
            <a:ext cx="8600926" cy="671352"/>
          </a:xfrm>
          <a:prstGeom prst="rect">
            <a:avLst/>
          </a:prstGeom>
        </p:spPr>
        <p:txBody>
          <a:bodyPr anchor="t" rtlCol="false" tIns="0" lIns="0" bIns="0" rIns="0">
            <a:spAutoFit/>
          </a:bodyPr>
          <a:lstStyle/>
          <a:p>
            <a:pPr algn="ctr">
              <a:lnSpc>
                <a:spcPts val="5521"/>
              </a:lnSpc>
              <a:spcBef>
                <a:spcPct val="0"/>
              </a:spcBef>
            </a:pPr>
            <a:r>
              <a:rPr lang="en-US" b="true" sz="3943">
                <a:solidFill>
                  <a:srgbClr val="002B58"/>
                </a:solidFill>
                <a:latin typeface="Monda Bold"/>
                <a:ea typeface="Monda Bold"/>
                <a:cs typeface="Monda Bold"/>
                <a:sym typeface="Monda Bold"/>
              </a:rPr>
              <a:t>🧩 </a:t>
            </a:r>
            <a:r>
              <a:rPr lang="en-US" b="true" sz="3943">
                <a:solidFill>
                  <a:srgbClr val="002B58"/>
                </a:solidFill>
                <a:latin typeface="Monda Bold"/>
                <a:ea typeface="Monda Bold"/>
                <a:cs typeface="Monda Bold"/>
                <a:sym typeface="Monda Bold"/>
              </a:rPr>
              <a:t>STEP-BY-STEP METHODOLOGY</a:t>
            </a:r>
          </a:p>
        </p:txBody>
      </p:sp>
      <p:sp>
        <p:nvSpPr>
          <p:cNvPr name="TextBox 8" id="8"/>
          <p:cNvSpPr txBox="true"/>
          <p:nvPr/>
        </p:nvSpPr>
        <p:spPr>
          <a:xfrm rot="0">
            <a:off x="1028700" y="1985802"/>
            <a:ext cx="17259300" cy="7904002"/>
          </a:xfrm>
          <a:prstGeom prst="rect">
            <a:avLst/>
          </a:prstGeom>
        </p:spPr>
        <p:txBody>
          <a:bodyPr anchor="t" rtlCol="false" tIns="0" lIns="0" bIns="0" rIns="0">
            <a:spAutoFit/>
          </a:bodyPr>
          <a:lstStyle/>
          <a:p>
            <a:pPr algn="l">
              <a:lnSpc>
                <a:spcPts val="4821"/>
              </a:lnSpc>
              <a:spcBef>
                <a:spcPct val="0"/>
              </a:spcBef>
            </a:pPr>
            <a:r>
              <a:rPr lang="en-US" b="true" sz="3443">
                <a:solidFill>
                  <a:srgbClr val="002B58"/>
                </a:solidFill>
                <a:latin typeface="Monda Bold"/>
                <a:ea typeface="Monda Bold"/>
                <a:cs typeface="Monda Bold"/>
                <a:sym typeface="Monda Bold"/>
              </a:rPr>
              <a:t>1.</a:t>
            </a:r>
            <a:r>
              <a:rPr lang="en-US" b="true" sz="3443">
                <a:solidFill>
                  <a:srgbClr val="002B58"/>
                </a:solidFill>
                <a:latin typeface="Monda Bold"/>
                <a:ea typeface="Monda Bold"/>
                <a:cs typeface="Monda Bold"/>
                <a:sym typeface="Monda Bold"/>
              </a:rPr>
              <a:t>DATA PREPARATION:</a:t>
            </a:r>
          </a:p>
          <a:p>
            <a:pPr algn="l">
              <a:lnSpc>
                <a:spcPts val="4821"/>
              </a:lnSpc>
              <a:spcBef>
                <a:spcPct val="0"/>
              </a:spcBef>
            </a:pPr>
            <a:r>
              <a:rPr lang="en-US" sz="3443">
                <a:solidFill>
                  <a:srgbClr val="002B58"/>
                </a:solidFill>
                <a:latin typeface="Monda"/>
                <a:ea typeface="Monda"/>
                <a:cs typeface="Monda"/>
                <a:sym typeface="Monda"/>
              </a:rPr>
              <a:t>ORGANIZE THE RAW DATASET WITH COLUMNS LIKE CUSTOMER ID, AGE, GENDER, REGION, PRODUCT CATEGORY, PURCHASE DATE, AND PURCHASE AMOUNT.</a:t>
            </a:r>
          </a:p>
          <a:p>
            <a:pPr algn="l">
              <a:lnSpc>
                <a:spcPts val="4821"/>
              </a:lnSpc>
              <a:spcBef>
                <a:spcPct val="0"/>
              </a:spcBef>
            </a:pPr>
            <a:r>
              <a:rPr lang="en-US" b="true" sz="3443">
                <a:solidFill>
                  <a:srgbClr val="002B58"/>
                </a:solidFill>
                <a:latin typeface="Monda Bold"/>
                <a:ea typeface="Monda Bold"/>
                <a:cs typeface="Monda Bold"/>
                <a:sym typeface="Monda Bold"/>
              </a:rPr>
              <a:t>ENSURE DATA IS CLEAN:</a:t>
            </a:r>
            <a:r>
              <a:rPr lang="en-US" sz="3443">
                <a:solidFill>
                  <a:srgbClr val="002B58"/>
                </a:solidFill>
                <a:latin typeface="Monda"/>
                <a:ea typeface="Monda"/>
                <a:cs typeface="Monda"/>
                <a:sym typeface="Monda"/>
              </a:rPr>
              <a:t> REMOVE DUPLICATES, FILL MISSING VALUES, AND FORMAT DATES PROPERLY.</a:t>
            </a:r>
          </a:p>
          <a:p>
            <a:pPr algn="l">
              <a:lnSpc>
                <a:spcPts val="4821"/>
              </a:lnSpc>
              <a:spcBef>
                <a:spcPct val="0"/>
              </a:spcBef>
            </a:pPr>
            <a:r>
              <a:rPr lang="en-US" b="true" sz="3443">
                <a:solidFill>
                  <a:srgbClr val="002B58"/>
                </a:solidFill>
                <a:latin typeface="Monda Bold"/>
                <a:ea typeface="Monda Bold"/>
                <a:cs typeface="Monda Bold"/>
                <a:sym typeface="Monda Bold"/>
              </a:rPr>
              <a:t>2.CREATE A PIVOT TABLE:</a:t>
            </a:r>
          </a:p>
          <a:p>
            <a:pPr algn="l">
              <a:lnSpc>
                <a:spcPts val="4821"/>
              </a:lnSpc>
              <a:spcBef>
                <a:spcPct val="0"/>
              </a:spcBef>
            </a:pPr>
            <a:r>
              <a:rPr lang="en-US" sz="3443">
                <a:solidFill>
                  <a:srgbClr val="002B58"/>
                </a:solidFill>
                <a:latin typeface="Monda"/>
                <a:ea typeface="Monda"/>
                <a:cs typeface="Monda"/>
                <a:sym typeface="Monda"/>
              </a:rPr>
              <a:t>SELECT THE DATASET AND INSERT A PIVOT TABLE (INSERT &gt; PIVOTTABLE).</a:t>
            </a:r>
          </a:p>
          <a:p>
            <a:pPr algn="l">
              <a:lnSpc>
                <a:spcPts val="4821"/>
              </a:lnSpc>
              <a:spcBef>
                <a:spcPct val="0"/>
              </a:spcBef>
            </a:pPr>
            <a:r>
              <a:rPr lang="en-US" sz="3443">
                <a:solidFill>
                  <a:srgbClr val="002B58"/>
                </a:solidFill>
                <a:latin typeface="Monda"/>
                <a:ea typeface="Monda"/>
                <a:cs typeface="Monda"/>
                <a:sym typeface="Monda"/>
              </a:rPr>
              <a:t>PLACE THE PIVOT ON A NEW WORKSHEET FOR CLARITY.</a:t>
            </a:r>
          </a:p>
          <a:p>
            <a:pPr algn="l">
              <a:lnSpc>
                <a:spcPts val="4821"/>
              </a:lnSpc>
              <a:spcBef>
                <a:spcPct val="0"/>
              </a:spcBef>
            </a:pPr>
            <a:r>
              <a:rPr lang="en-US" b="true" sz="3443">
                <a:solidFill>
                  <a:srgbClr val="002B58"/>
                </a:solidFill>
                <a:latin typeface="Monda Bold"/>
                <a:ea typeface="Monda Bold"/>
                <a:cs typeface="Monda Bold"/>
                <a:sym typeface="Monda Bold"/>
              </a:rPr>
              <a:t>3.DEMOGRAPHIC SEGMENTATION:</a:t>
            </a:r>
          </a:p>
          <a:p>
            <a:pPr algn="l">
              <a:lnSpc>
                <a:spcPts val="4821"/>
              </a:lnSpc>
              <a:spcBef>
                <a:spcPct val="0"/>
              </a:spcBef>
            </a:pPr>
            <a:r>
              <a:rPr lang="en-US" sz="3443">
                <a:solidFill>
                  <a:srgbClr val="002B58"/>
                </a:solidFill>
                <a:latin typeface="Monda"/>
                <a:ea typeface="Monda"/>
                <a:cs typeface="Monda"/>
                <a:sym typeface="Monda"/>
              </a:rPr>
              <a:t>ROWS: USE FIELDS LIKE GENDER, AGE GROUP, OR REGION.</a:t>
            </a:r>
          </a:p>
          <a:p>
            <a:pPr algn="l">
              <a:lnSpc>
                <a:spcPts val="4821"/>
              </a:lnSpc>
              <a:spcBef>
                <a:spcPct val="0"/>
              </a:spcBef>
            </a:pPr>
            <a:r>
              <a:rPr lang="en-US" sz="3443">
                <a:solidFill>
                  <a:srgbClr val="002B58"/>
                </a:solidFill>
                <a:latin typeface="Monda"/>
                <a:ea typeface="Monda"/>
                <a:cs typeface="Monda"/>
                <a:sym typeface="Monda"/>
              </a:rPr>
              <a:t>VALUES: SUM OF AMOUNT OR COUNT OF TRANSACTIONS.</a:t>
            </a:r>
          </a:p>
          <a:p>
            <a:pPr algn="l">
              <a:lnSpc>
                <a:spcPts val="4821"/>
              </a:lnSpc>
              <a:spcBef>
                <a:spcPct val="0"/>
              </a:spcBef>
            </a:pPr>
            <a:r>
              <a:rPr lang="en-US" sz="3443">
                <a:solidFill>
                  <a:srgbClr val="002B58"/>
                </a:solidFill>
                <a:latin typeface="Monda"/>
                <a:ea typeface="Monda"/>
                <a:cs typeface="Monda"/>
                <a:sym typeface="Monda"/>
              </a:rPr>
              <a:t>THIS HELPS VISUALIZE PURCHASE BEHAVIOR ACROSS DEMOGRAPHICS.</a:t>
            </a:r>
          </a:p>
        </p:txBody>
      </p:sp>
      <p:sp>
        <p:nvSpPr>
          <p:cNvPr name="Freeform 9" id="9"/>
          <p:cNvSpPr/>
          <p:nvPr/>
        </p:nvSpPr>
        <p:spPr>
          <a:xfrm flipH="false" flipV="false" rot="0">
            <a:off x="378270" y="2052477"/>
            <a:ext cx="437910" cy="485416"/>
          </a:xfrm>
          <a:custGeom>
            <a:avLst/>
            <a:gdLst/>
            <a:ahLst/>
            <a:cxnLst/>
            <a:rect r="r" b="b" t="t" l="l"/>
            <a:pathLst>
              <a:path h="485416" w="437910">
                <a:moveTo>
                  <a:pt x="0" y="0"/>
                </a:moveTo>
                <a:lnTo>
                  <a:pt x="437909" y="0"/>
                </a:lnTo>
                <a:lnTo>
                  <a:pt x="437909" y="485417"/>
                </a:lnTo>
                <a:lnTo>
                  <a:pt x="0" y="4854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378270" y="5728433"/>
            <a:ext cx="437910" cy="485416"/>
          </a:xfrm>
          <a:custGeom>
            <a:avLst/>
            <a:gdLst/>
            <a:ahLst/>
            <a:cxnLst/>
            <a:rect r="r" b="b" t="t" l="l"/>
            <a:pathLst>
              <a:path h="485416" w="437910">
                <a:moveTo>
                  <a:pt x="0" y="0"/>
                </a:moveTo>
                <a:lnTo>
                  <a:pt x="437909" y="0"/>
                </a:lnTo>
                <a:lnTo>
                  <a:pt x="437909" y="485416"/>
                </a:lnTo>
                <a:lnTo>
                  <a:pt x="0" y="4854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378270" y="7467312"/>
            <a:ext cx="437910" cy="485416"/>
          </a:xfrm>
          <a:custGeom>
            <a:avLst/>
            <a:gdLst/>
            <a:ahLst/>
            <a:cxnLst/>
            <a:rect r="r" b="b" t="t" l="l"/>
            <a:pathLst>
              <a:path h="485416" w="437910">
                <a:moveTo>
                  <a:pt x="0" y="0"/>
                </a:moveTo>
                <a:lnTo>
                  <a:pt x="437909" y="0"/>
                </a:lnTo>
                <a:lnTo>
                  <a:pt x="437909" y="485417"/>
                </a:lnTo>
                <a:lnTo>
                  <a:pt x="0" y="4854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599895" y="6283834"/>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801239" y="-1729391"/>
            <a:ext cx="9295205" cy="5948931"/>
          </a:xfrm>
          <a:custGeom>
            <a:avLst/>
            <a:gdLst/>
            <a:ahLst/>
            <a:cxnLst/>
            <a:rect r="r" b="b" t="t" l="l"/>
            <a:pathLst>
              <a:path h="5948931" w="9295205">
                <a:moveTo>
                  <a:pt x="0" y="5948931"/>
                </a:moveTo>
                <a:lnTo>
                  <a:pt x="9295205" y="5948931"/>
                </a:lnTo>
                <a:lnTo>
                  <a:pt x="9295205" y="0"/>
                </a:lnTo>
                <a:lnTo>
                  <a:pt x="0" y="0"/>
                </a:lnTo>
                <a:lnTo>
                  <a:pt x="0" y="594893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1947"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26496" y="4658084"/>
            <a:ext cx="437910" cy="485416"/>
          </a:xfrm>
          <a:custGeom>
            <a:avLst/>
            <a:gdLst/>
            <a:ahLst/>
            <a:cxnLst/>
            <a:rect r="r" b="b" t="t" l="l"/>
            <a:pathLst>
              <a:path h="485416" w="437910">
                <a:moveTo>
                  <a:pt x="0" y="0"/>
                </a:moveTo>
                <a:lnTo>
                  <a:pt x="437909" y="0"/>
                </a:lnTo>
                <a:lnTo>
                  <a:pt x="437909" y="485416"/>
                </a:lnTo>
                <a:lnTo>
                  <a:pt x="0" y="4854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028700" y="865983"/>
            <a:ext cx="17259300" cy="9421017"/>
          </a:xfrm>
          <a:prstGeom prst="rect">
            <a:avLst/>
          </a:prstGeom>
        </p:spPr>
        <p:txBody>
          <a:bodyPr anchor="t" rtlCol="false" tIns="0" lIns="0" bIns="0" rIns="0">
            <a:spAutoFit/>
          </a:bodyPr>
          <a:lstStyle/>
          <a:p>
            <a:pPr algn="l">
              <a:lnSpc>
                <a:spcPts val="4681"/>
              </a:lnSpc>
              <a:spcBef>
                <a:spcPct val="0"/>
              </a:spcBef>
            </a:pPr>
            <a:r>
              <a:rPr lang="en-US" b="true" sz="3343">
                <a:solidFill>
                  <a:srgbClr val="002B58"/>
                </a:solidFill>
                <a:latin typeface="Monda Bold"/>
                <a:ea typeface="Monda Bold"/>
                <a:cs typeface="Monda Bold"/>
                <a:sym typeface="Monda Bold"/>
              </a:rPr>
              <a:t>4.</a:t>
            </a:r>
            <a:r>
              <a:rPr lang="en-US" b="true" sz="3343">
                <a:solidFill>
                  <a:srgbClr val="002B58"/>
                </a:solidFill>
                <a:latin typeface="Monda Bold"/>
                <a:ea typeface="Monda Bold"/>
                <a:cs typeface="Monda Bold"/>
                <a:sym typeface="Monda Bold"/>
              </a:rPr>
              <a:t>BEHAVIORAL INSIGHTS:</a:t>
            </a:r>
          </a:p>
          <a:p>
            <a:pPr algn="l">
              <a:lnSpc>
                <a:spcPts val="4681"/>
              </a:lnSpc>
              <a:spcBef>
                <a:spcPct val="0"/>
              </a:spcBef>
            </a:pPr>
            <a:r>
              <a:rPr lang="en-US" sz="3343">
                <a:solidFill>
                  <a:srgbClr val="002B58"/>
                </a:solidFill>
                <a:latin typeface="Monda"/>
                <a:ea typeface="Monda"/>
                <a:cs typeface="Monda"/>
                <a:sym typeface="Monda"/>
              </a:rPr>
              <a:t>USE CUSTOMER ID IN ROWS, WITH COUNT OF PRODUCT PURCHASES IN VALUES TO IDENTIFY FREQUENT BUYERS.</a:t>
            </a:r>
          </a:p>
          <a:p>
            <a:pPr algn="l">
              <a:lnSpc>
                <a:spcPts val="4681"/>
              </a:lnSpc>
              <a:spcBef>
                <a:spcPct val="0"/>
              </a:spcBef>
            </a:pPr>
            <a:r>
              <a:rPr lang="en-US" sz="3343">
                <a:solidFill>
                  <a:srgbClr val="002B58"/>
                </a:solidFill>
                <a:latin typeface="Monda"/>
                <a:ea typeface="Monda"/>
                <a:cs typeface="Monda"/>
                <a:sym typeface="Monda"/>
              </a:rPr>
              <a:t>GROUP PURCHASE DATES BY MONTH/QUARTER/YEAR TO OBSERVE SEASONAL TRENDS.INCLUDE PRODUCT CATEGORY TO STUDY CATEGORY-WISE PREFERENCES.</a:t>
            </a:r>
          </a:p>
          <a:p>
            <a:pPr algn="l">
              <a:lnSpc>
                <a:spcPts val="4681"/>
              </a:lnSpc>
              <a:spcBef>
                <a:spcPct val="0"/>
              </a:spcBef>
            </a:pPr>
            <a:r>
              <a:rPr lang="en-US" b="true" sz="3343">
                <a:solidFill>
                  <a:srgbClr val="002B58"/>
                </a:solidFill>
                <a:latin typeface="Monda Bold"/>
                <a:ea typeface="Monda Bold"/>
                <a:cs typeface="Monda Bold"/>
                <a:sym typeface="Monda Bold"/>
              </a:rPr>
              <a:t>5.REPEAT CUSTOMER IDENTIFICATION:</a:t>
            </a:r>
          </a:p>
          <a:p>
            <a:pPr algn="l">
              <a:lnSpc>
                <a:spcPts val="4681"/>
              </a:lnSpc>
              <a:spcBef>
                <a:spcPct val="0"/>
              </a:spcBef>
            </a:pPr>
            <a:r>
              <a:rPr lang="en-US" sz="3343">
                <a:solidFill>
                  <a:srgbClr val="002B58"/>
                </a:solidFill>
                <a:latin typeface="Monda"/>
                <a:ea typeface="Monda"/>
                <a:cs typeface="Monda"/>
                <a:sym typeface="Monda"/>
              </a:rPr>
              <a:t>USE PIVOT WITH CUSTOMER ID AND COUNT OF DISTINCT PRODUCT NAMES TO DETECT REPEAT PURCHASES.</a:t>
            </a:r>
          </a:p>
          <a:p>
            <a:pPr algn="l">
              <a:lnSpc>
                <a:spcPts val="4681"/>
              </a:lnSpc>
              <a:spcBef>
                <a:spcPct val="0"/>
              </a:spcBef>
            </a:pPr>
            <a:r>
              <a:rPr lang="en-US" sz="3343">
                <a:solidFill>
                  <a:srgbClr val="002B58"/>
                </a:solidFill>
                <a:latin typeface="Monda"/>
                <a:ea typeface="Monda"/>
                <a:cs typeface="Monda"/>
                <a:sym typeface="Monda"/>
              </a:rPr>
              <a:t>FILTER TO DISPLAY CUSTOMERS PURCHASING MORE THAN ONCE OR HIGH-VALUE ITEMS.</a:t>
            </a:r>
          </a:p>
          <a:p>
            <a:pPr algn="l">
              <a:lnSpc>
                <a:spcPts val="4681"/>
              </a:lnSpc>
              <a:spcBef>
                <a:spcPct val="0"/>
              </a:spcBef>
            </a:pPr>
            <a:r>
              <a:rPr lang="en-US" b="true" sz="3343">
                <a:solidFill>
                  <a:srgbClr val="002B58"/>
                </a:solidFill>
                <a:latin typeface="Monda Bold"/>
                <a:ea typeface="Monda Bold"/>
                <a:cs typeface="Monda Bold"/>
                <a:sym typeface="Monda Bold"/>
              </a:rPr>
              <a:t>6.VISUAL REPRESENTATION:</a:t>
            </a:r>
          </a:p>
          <a:p>
            <a:pPr algn="l">
              <a:lnSpc>
                <a:spcPts val="4681"/>
              </a:lnSpc>
              <a:spcBef>
                <a:spcPct val="0"/>
              </a:spcBef>
            </a:pPr>
            <a:r>
              <a:rPr lang="en-US" b="true" sz="3343">
                <a:solidFill>
                  <a:srgbClr val="002B58"/>
                </a:solidFill>
                <a:latin typeface="Monda Bold"/>
                <a:ea typeface="Monda Bold"/>
                <a:cs typeface="Monda Bold"/>
                <a:sym typeface="Monda Bold"/>
              </a:rPr>
              <a:t>GENERATE CHARTS LIKE:</a:t>
            </a:r>
          </a:p>
          <a:p>
            <a:pPr algn="l">
              <a:lnSpc>
                <a:spcPts val="4681"/>
              </a:lnSpc>
              <a:spcBef>
                <a:spcPct val="0"/>
              </a:spcBef>
            </a:pPr>
            <a:r>
              <a:rPr lang="en-US" sz="3343">
                <a:solidFill>
                  <a:srgbClr val="002B58"/>
                </a:solidFill>
                <a:latin typeface="Monda"/>
                <a:ea typeface="Monda"/>
                <a:cs typeface="Monda"/>
                <a:sym typeface="Monda"/>
              </a:rPr>
              <a:t>BAR CHART FOR PURCHASE FREQUENCY BY REGION/GENDER.</a:t>
            </a:r>
          </a:p>
          <a:p>
            <a:pPr algn="l">
              <a:lnSpc>
                <a:spcPts val="4681"/>
              </a:lnSpc>
              <a:spcBef>
                <a:spcPct val="0"/>
              </a:spcBef>
            </a:pPr>
            <a:r>
              <a:rPr lang="en-US" sz="3343">
                <a:solidFill>
                  <a:srgbClr val="002B58"/>
                </a:solidFill>
                <a:latin typeface="Monda"/>
                <a:ea typeface="Monda"/>
                <a:cs typeface="Monda"/>
                <a:sym typeface="Monda"/>
              </a:rPr>
              <a:t>LINE CHART FOR SALES TREND OVER MONTHS.</a:t>
            </a:r>
          </a:p>
          <a:p>
            <a:pPr algn="l">
              <a:lnSpc>
                <a:spcPts val="4681"/>
              </a:lnSpc>
              <a:spcBef>
                <a:spcPct val="0"/>
              </a:spcBef>
            </a:pPr>
            <a:r>
              <a:rPr lang="en-US" sz="3343">
                <a:solidFill>
                  <a:srgbClr val="002B58"/>
                </a:solidFill>
                <a:latin typeface="Monda"/>
                <a:ea typeface="Monda"/>
                <a:cs typeface="Monda"/>
                <a:sym typeface="Monda"/>
              </a:rPr>
              <a:t>PIE CHART FOR CATEGORY CONTRIBUTION.</a:t>
            </a:r>
          </a:p>
        </p:txBody>
      </p:sp>
      <p:sp>
        <p:nvSpPr>
          <p:cNvPr name="Freeform 8" id="8"/>
          <p:cNvSpPr/>
          <p:nvPr/>
        </p:nvSpPr>
        <p:spPr>
          <a:xfrm flipH="false" flipV="false" rot="0">
            <a:off x="226496" y="7560787"/>
            <a:ext cx="437910" cy="485416"/>
          </a:xfrm>
          <a:custGeom>
            <a:avLst/>
            <a:gdLst/>
            <a:ahLst/>
            <a:cxnLst/>
            <a:rect r="r" b="b" t="t" l="l"/>
            <a:pathLst>
              <a:path h="485416" w="437910">
                <a:moveTo>
                  <a:pt x="0" y="0"/>
                </a:moveTo>
                <a:lnTo>
                  <a:pt x="437909" y="0"/>
                </a:lnTo>
                <a:lnTo>
                  <a:pt x="437909" y="485416"/>
                </a:lnTo>
                <a:lnTo>
                  <a:pt x="0" y="4854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445450" y="923133"/>
            <a:ext cx="437910" cy="485416"/>
          </a:xfrm>
          <a:custGeom>
            <a:avLst/>
            <a:gdLst/>
            <a:ahLst/>
            <a:cxnLst/>
            <a:rect r="r" b="b" t="t" l="l"/>
            <a:pathLst>
              <a:path h="485416" w="437910">
                <a:moveTo>
                  <a:pt x="0" y="0"/>
                </a:moveTo>
                <a:lnTo>
                  <a:pt x="437910" y="0"/>
                </a:lnTo>
                <a:lnTo>
                  <a:pt x="437910" y="485416"/>
                </a:lnTo>
                <a:lnTo>
                  <a:pt x="0" y="4854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743480" y="4136923"/>
            <a:ext cx="12801040" cy="1813128"/>
          </a:xfrm>
          <a:prstGeom prst="rect">
            <a:avLst/>
          </a:prstGeom>
        </p:spPr>
        <p:txBody>
          <a:bodyPr anchor="t" rtlCol="false" tIns="0" lIns="0" bIns="0" rIns="0">
            <a:spAutoFit/>
          </a:bodyPr>
          <a:lstStyle/>
          <a:p>
            <a:pPr algn="ctr">
              <a:lnSpc>
                <a:spcPts val="14887"/>
              </a:lnSpc>
            </a:pPr>
            <a:r>
              <a:rPr lang="en-US" b="true" sz="10634">
                <a:solidFill>
                  <a:srgbClr val="002B58"/>
                </a:solidFill>
                <a:latin typeface="Monda Bold"/>
                <a:ea typeface="Monda Bold"/>
                <a:cs typeface="Monda Bold"/>
                <a:sym typeface="Monda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DAGsRsMMD6o</dc:identifier>
  <dcterms:modified xsi:type="dcterms:W3CDTF">2011-08-01T06:04:30Z</dcterms:modified>
  <cp:revision>1</cp:revision>
  <dc:title>Customer Demographics and Purchase Behavior Analysis</dc:title>
</cp:coreProperties>
</file>